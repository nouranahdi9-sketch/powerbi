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04_75C71A7E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61" r:id="rId5"/>
    <p:sldId id="262" r:id="rId6"/>
    <p:sldId id="264" r:id="rId7"/>
    <p:sldId id="265" r:id="rId8"/>
    <p:sldId id="266" r:id="rId9"/>
    <p:sldId id="267" r:id="rId10"/>
    <p:sldId id="260" r:id="rId11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C88532-99A5-558C-B62A-FD27334A3C50}" name="BOULAY Maud" initials="MB" userId="S::MBoulay@invivo-group.com::593a7d99-610e-4257-bde9-322c173ed4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73E831-3EB8-716C-534B-DCDB7307ED8D}" v="4" dt="2026-05-20T12:49:16.7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DI Noura" userId="S::nnahdi.ext@invivo-group.com::6c4ae21d-bb0b-4f7f-af29-c0fd1e7ee784" providerId="AD" clId="Web-{CF73E831-3EB8-716C-534B-DCDB7307ED8D}"/>
    <pc:docChg chg="modSld">
      <pc:chgData name="NAHDI Noura" userId="S::nnahdi.ext@invivo-group.com::6c4ae21d-bb0b-4f7f-af29-c0fd1e7ee784" providerId="AD" clId="Web-{CF73E831-3EB8-716C-534B-DCDB7307ED8D}" dt="2026-05-20T12:49:16.722" v="3" actId="14100"/>
      <pc:docMkLst>
        <pc:docMk/>
      </pc:docMkLst>
      <pc:sldChg chg="modSp">
        <pc:chgData name="NAHDI Noura" userId="S::nnahdi.ext@invivo-group.com::6c4ae21d-bb0b-4f7f-af29-c0fd1e7ee784" providerId="AD" clId="Web-{CF73E831-3EB8-716C-534B-DCDB7307ED8D}" dt="2026-05-20T12:49:16.722" v="3" actId="14100"/>
        <pc:sldMkLst>
          <pc:docMk/>
          <pc:sldMk cId="3829294136" sldId="265"/>
        </pc:sldMkLst>
        <pc:spChg chg="mod">
          <ac:chgData name="NAHDI Noura" userId="S::nnahdi.ext@invivo-group.com::6c4ae21d-bb0b-4f7f-af29-c0fd1e7ee784" providerId="AD" clId="Web-{CF73E831-3EB8-716C-534B-DCDB7307ED8D}" dt="2026-05-20T12:49:16.722" v="3" actId="14100"/>
          <ac:spMkLst>
            <pc:docMk/>
            <pc:sldMk cId="3829294136" sldId="265"/>
            <ac:spMk id="34" creationId="{8F380417-DD30-25A8-A7EC-F30246F20773}"/>
          </ac:spMkLst>
        </pc:spChg>
      </pc:sldChg>
    </pc:docChg>
  </pc:docChgLst>
</pc:chgInfo>
</file>

<file path=ppt/comments/modernComment_104_75C71A7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3A2766-CE35-4EBC-9896-F45BD1E6A4F6}" authorId="{62C88532-99A5-558C-B62A-FD27334A3C50}" created="2026-02-05T13:23:59.22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6" creationId="{EAC954DD-E7FA-C0DF-12D2-93E854D1C69F}"/>
    </ac:deMkLst>
    <p188:txBody>
      <a:bodyPr/>
      <a:lstStyle/>
      <a:p>
        <a:r>
          <a:rPr lang="fr-FR"/>
          <a:t>Nombre de sites avec Metamodèle en RUN</a:t>
        </a:r>
      </a:p>
    </p188:txBody>
  </p188:cm>
  <p188:cm id="{3C855B5D-84D7-4DAF-B834-F08D8A68FDFC}" authorId="{62C88532-99A5-558C-B62A-FD27334A3C50}" created="2026-02-05T13:24:12.64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7" creationId="{16BB132F-5B63-20B2-8050-1E2E9E6DE764}"/>
    </ac:deMkLst>
    <p188:txBody>
      <a:bodyPr/>
      <a:lstStyle/>
      <a:p>
        <a:r>
          <a:rPr lang="fr-FR"/>
          <a:t>Nombre de sites avec Recos IA en RUN</a:t>
        </a:r>
      </a:p>
    </p188:txBody>
  </p188:cm>
  <p188:cm id="{899133D1-5732-4B58-ADD1-49651AFB1984}" authorId="{62C88532-99A5-558C-B62A-FD27334A3C50}" created="2026-02-05T13:24:36.4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14" creationId="{0A2FB7F5-FA96-A031-7CAC-E8500803A5D0}"/>
    </ac:deMkLst>
    <p188:txBody>
      <a:bodyPr/>
      <a:lstStyle/>
      <a:p>
        <a:r>
          <a:rPr lang="fr-FR"/>
          <a:t>Nombre de sites avec config TRS pousser en prod</a:t>
        </a:r>
      </a:p>
    </p188:txBody>
  </p188:cm>
  <p188:cm id="{1D9A07D2-BB29-4707-8055-376F3819C7F1}" authorId="{62C88532-99A5-558C-B62A-FD27334A3C50}" created="2026-02-05T13:25:49.40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3" creationId="{DE818B4B-7EC9-DA33-C9F8-221E8D9A556F}"/>
    </ac:deMkLst>
    <p188:txBody>
      <a:bodyPr/>
      <a:lstStyle/>
      <a:p>
        <a:r>
          <a:rPr lang="fr-FR"/>
          <a:t>Site avec notes de prod nouvelles architectures avec niveau 2 et 3 renseigné</a:t>
        </a:r>
      </a:p>
    </p188:txBody>
  </p188:cm>
  <p188:cm id="{C15EA3E2-0458-4107-9914-E019AA3D2BFA}" authorId="{62C88532-99A5-558C-B62A-FD27334A3C50}" created="2026-02-05T13:26:03.4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8" creationId="{FA085261-E771-A3FA-E84C-19B78D27E268}"/>
    </ac:deMkLst>
    <p188:txBody>
      <a:bodyPr/>
      <a:lstStyle/>
      <a:p>
        <a:r>
          <a:rPr lang="fr-FR"/>
          <a:t>Récupéré via Auth0 uniquement à date</a:t>
        </a:r>
      </a:p>
    </p188:txBody>
  </p188:cm>
  <p188:cm id="{C7D6E990-5330-4260-8970-24E95749502D}" authorId="{62C88532-99A5-558C-B62A-FD27334A3C50}" created="2026-02-05T13:27:26.7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9" creationId="{11B489F4-BFCE-0982-A7D6-D1C808C4D4B7}"/>
    </ac:deMkLst>
    <p188:txBody>
      <a:bodyPr/>
      <a:lstStyle/>
      <a:p>
        <a:r>
          <a:rPr lang="fr-FR"/>
          <a:t>Infos récupérées sur le dash natif de PowerBI</a:t>
        </a:r>
      </a:p>
    </p188:txBody>
  </p188:cm>
  <p188:cm id="{7C7891BD-425C-4E12-8FB0-4C08E20F9AD1}" authorId="{62C88532-99A5-558C-B62A-FD27334A3C50}" created="2026-02-05T13:41:41.53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40" creationId="{226D7289-2089-237F-CC3F-4849F3C02AFF}"/>
    </ac:deMkLst>
    <p188:txBody>
      <a:bodyPr/>
      <a:lstStyle/>
      <a:p>
        <a:r>
          <a:rPr lang="fr-FR"/>
          <a:t>Disponible via dashboard des reco et dash spécifique Aveva</a:t>
        </a:r>
      </a:p>
    </p188:txBody>
  </p188:cm>
  <p188:cm id="{492E83AC-CDEF-43C2-9918-1460BD17255B}" authorId="{62C88532-99A5-558C-B62A-FD27334A3C50}" created="2026-02-05T13:42:10.26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29" creationId="{17D79E8E-A44B-850A-53DD-20EFB94AF12B}"/>
    </ac:deMkLst>
    <p188:txBody>
      <a:bodyPr/>
      <a:lstStyle/>
      <a:p>
        <a:r>
          <a:rPr lang="fr-FR"/>
          <a:t>Dispo via le dash de monitoring des recos</a:t>
        </a:r>
      </a:p>
    </p188:txBody>
  </p188:cm>
  <p188:cm id="{ED1991AE-B56F-477F-B87E-68A6366558E9}" authorId="{62C88532-99A5-558C-B62A-FD27334A3C50}" created="2026-02-05T13:42:39.20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11" creationId="{1DE1193B-86C2-7CBD-5A15-C396CA32DA79}"/>
    </ac:deMkLst>
    <p188:txBody>
      <a:bodyPr/>
      <a:lstStyle/>
      <a:p>
        <a:r>
          <a:rPr lang="fr-FR"/>
          <a:t>Actuellement uniquement dispo via une requête directe sur databricks ou postgre. Cf DE</a:t>
        </a:r>
      </a:p>
    </p188:txBody>
  </p188:cm>
  <p188:cm id="{45046100-133D-41D3-9698-0572ACDD3094}" authorId="{62C88532-99A5-558C-B62A-FD27334A3C50}" created="2026-02-05T13:58:31.7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picMk id="41" creationId="{85899147-159B-1F93-D03D-A03FBBF0C53E}"/>
    </ac:deMkLst>
    <p188:txBody>
      <a:bodyPr/>
      <a:lstStyle/>
      <a:p>
        <a:r>
          <a:rPr lang="fr-FR"/>
          <a:t>Dispo sur dashboard metabase</a:t>
        </a:r>
      </a:p>
    </p188:txBody>
  </p188:cm>
  <p188:cm id="{F3319581-F52F-42DE-AAAA-62267C99946B}" authorId="{62C88532-99A5-558C-B62A-FD27334A3C50}" created="2026-02-05T13:59:21.7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28" creationId="{8F0FBF2A-2F98-CFDC-258E-8256D2EDFAD8}"/>
    </ac:deMkLst>
    <p188:txBody>
      <a:bodyPr/>
      <a:lstStyle/>
      <a:p>
        <a:r>
          <a:rPr lang="fr-FR"/>
          <a:t>Dispo sur dash monitoring des recommandations</a:t>
        </a:r>
      </a:p>
    </p188:txBody>
  </p188:cm>
  <p188:cm id="{24D0DDCC-7F45-484B-B13A-F1B5E10A2C37}" authorId="{62C88532-99A5-558C-B62A-FD27334A3C50}" created="2026-02-05T13:59:55.13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52" creationId="{9A2ED358-F991-0BAF-4640-D359F4F90F0E}"/>
    </ac:deMkLst>
    <p188:txBody>
      <a:bodyPr/>
      <a:lstStyle/>
      <a:p>
        <a:r>
          <a:rPr lang="fr-FR"/>
          <a:t>Pas de dash existant au global à date ? Mais info dispo dans le BDD.</a:t>
        </a:r>
      </a:p>
    </p188:txBody>
  </p188:cm>
  <p188:cm id="{69D9FFAC-675A-4F81-A394-2F9DA38ED95A}" authorId="{62C88532-99A5-558C-B62A-FD27334A3C50}" created="2026-02-05T14:00:20.64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58" creationId="{6CF3DE47-4F94-7B21-A838-00A9DF40BE6F}"/>
    </ac:deMkLst>
    <p188:txBody>
      <a:bodyPr/>
      <a:lstStyle/>
      <a:p>
        <a:r>
          <a:rPr lang="fr-FR"/>
          <a:t>Pas de dash global existant à date ? Mais info dispo dans la BDD.</a:t>
        </a:r>
      </a:p>
    </p188:txBody>
  </p188:cm>
  <p188:cm id="{08DA2B66-6173-4958-9D53-3D21CB0ED517}" authorId="{62C88532-99A5-558C-B62A-FD27334A3C50}" created="2026-02-05T14:00:53.92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picMk id="60" creationId="{75968123-CC1B-D888-3959-D8D5F5428F79}"/>
    </ac:deMkLst>
    <p188:txBody>
      <a:bodyPr/>
      <a:lstStyle/>
      <a:p>
        <a:r>
          <a:rPr lang="fr-FR"/>
          <a:t>Infos dispos sur la vue native de suivi des dashboard.</a:t>
        </a:r>
      </a:p>
    </p188:txBody>
  </p188:cm>
  <p188:cm id="{BE846A8C-5467-4C52-9659-8B0B20646F7B}" authorId="{62C88532-99A5-558C-B62A-FD27334A3C50}" created="2026-02-05T14:01:12.27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5982718" sldId="260"/>
      <ac:spMk id="75" creationId="{45EF9291-A67D-B428-F6C2-13B5A8CBE601}"/>
    </ac:deMkLst>
    <p188:txBody>
      <a:bodyPr/>
      <a:lstStyle/>
      <a:p>
        <a:r>
          <a:rPr lang="fr-FR"/>
          <a:t>Info dispo dans les dash TRS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5D835-3D62-468F-B0F9-BAA5B1539BFD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8B883-1562-40F5-8B05-282F7DF520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9420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24DB-4566-5577-60A9-88B1FBB36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A1C5095-D0D4-7BAA-BE38-E8B06308B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093CA8B-A080-000D-899C-5BBE2577F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Indicateurs trop fin sur 7 jours</a:t>
            </a:r>
            <a:br>
              <a:rPr lang="fr-FR"/>
            </a:br>
            <a:r>
              <a:rPr lang="fr-FR"/>
              <a:t>Attention à avoir plusieurs </a:t>
            </a:r>
            <a:r>
              <a:rPr lang="fr-FR" err="1"/>
              <a:t>dashboards</a:t>
            </a:r>
            <a:r>
              <a:rPr lang="fr-FR"/>
              <a:t> qui ont la même information &gt; possibilité </a:t>
            </a:r>
            <a:br>
              <a:rPr lang="fr-FR"/>
            </a:br>
            <a:r>
              <a:rPr lang="fr-FR"/>
              <a:t>Mettre moins d’indicateurs pour démarrer</a:t>
            </a:r>
            <a:br>
              <a:rPr lang="fr-FR"/>
            </a:br>
            <a:r>
              <a:rPr lang="fr-FR"/>
              <a:t>Synthèse mensuelle avoir tous les éléments au mois</a:t>
            </a:r>
            <a:br>
              <a:rPr lang="fr-FR"/>
            </a:br>
            <a:r>
              <a:rPr lang="fr-FR"/>
              <a:t>En rouge indicateurs non pertinents</a:t>
            </a:r>
          </a:p>
          <a:p>
            <a:r>
              <a:rPr lang="fr-FR"/>
              <a:t>A voir si on tourne les indicateurs positivement ou négativement la qualité de données</a:t>
            </a:r>
          </a:p>
          <a:p>
            <a:r>
              <a:rPr lang="fr-FR"/>
              <a:t>En bleu les éléments à valider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FADBE5-7AEE-DA4E-F482-ACB2A657F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8B883-1562-40F5-8B05-282F7DF520B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481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1AC13-604C-9298-1A49-E7B2D1F8F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09D7C6C-3327-0185-CD2A-15F4AB465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FC4C571-FE7B-A6D7-8E07-70210C10B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Indicateurs trop fin sur 7 jours</a:t>
            </a:r>
            <a:br>
              <a:rPr lang="fr-FR"/>
            </a:br>
            <a:r>
              <a:rPr lang="fr-FR"/>
              <a:t>Attention à avoir plusieurs </a:t>
            </a:r>
            <a:r>
              <a:rPr lang="fr-FR" err="1"/>
              <a:t>dashboards</a:t>
            </a:r>
            <a:r>
              <a:rPr lang="fr-FR"/>
              <a:t> qui ont la même information &gt; possibilité </a:t>
            </a:r>
            <a:br>
              <a:rPr lang="fr-FR"/>
            </a:br>
            <a:r>
              <a:rPr lang="fr-FR"/>
              <a:t>Mettre moins d’indicateurs pour démarrer</a:t>
            </a:r>
            <a:br>
              <a:rPr lang="fr-FR"/>
            </a:br>
            <a:r>
              <a:rPr lang="fr-FR"/>
              <a:t>Synthèse mensuelle avoir tous les éléments au mois</a:t>
            </a:r>
            <a:br>
              <a:rPr lang="fr-FR"/>
            </a:br>
            <a:r>
              <a:rPr lang="fr-FR"/>
              <a:t>En rouge indicateurs non pertinents</a:t>
            </a:r>
          </a:p>
          <a:p>
            <a:r>
              <a:rPr lang="fr-FR"/>
              <a:t>A voir si on tourne les indicateurs positivement ou négativement la qualité de données</a:t>
            </a:r>
          </a:p>
          <a:p>
            <a:r>
              <a:rPr lang="fr-FR"/>
              <a:t>En bleu les éléments à valider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49B4D8-99EF-15F8-F289-9A3377587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8B883-1562-40F5-8B05-282F7DF520B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621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8EAF9-6664-5094-C966-F4CAE4BB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DBA3CC2-F8C5-BB0D-4200-ABC1CA081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1423F78-7958-F5DA-5E84-B15695C6B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Indicateurs trop fin sur 7 jours</a:t>
            </a:r>
            <a:br>
              <a:rPr lang="fr-FR"/>
            </a:br>
            <a:r>
              <a:rPr lang="fr-FR"/>
              <a:t>Attention à avoir plusieurs </a:t>
            </a:r>
            <a:r>
              <a:rPr lang="fr-FR" err="1"/>
              <a:t>dashboards</a:t>
            </a:r>
            <a:r>
              <a:rPr lang="fr-FR"/>
              <a:t> qui ont la même information &gt; possibilité </a:t>
            </a:r>
            <a:br>
              <a:rPr lang="fr-FR"/>
            </a:br>
            <a:r>
              <a:rPr lang="fr-FR"/>
              <a:t>Mettre moins d’indicateurs pour démarrer</a:t>
            </a:r>
            <a:br>
              <a:rPr lang="fr-FR"/>
            </a:br>
            <a:r>
              <a:rPr lang="fr-FR"/>
              <a:t>Synthèse mensuelle avoir tous les éléments au mois</a:t>
            </a:r>
            <a:br>
              <a:rPr lang="fr-FR"/>
            </a:br>
            <a:r>
              <a:rPr lang="fr-FR"/>
              <a:t>En rouge indicateurs non pertinents</a:t>
            </a:r>
          </a:p>
          <a:p>
            <a:r>
              <a:rPr lang="fr-FR"/>
              <a:t>A voir si on tourne les indicateurs positivement ou négativement la qualité de données</a:t>
            </a:r>
          </a:p>
          <a:p>
            <a:r>
              <a:rPr lang="fr-FR"/>
              <a:t>En bleu les éléments à valider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3A4118-3E6B-13E6-D582-9A651C9A3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8B883-1562-40F5-8B05-282F7DF520B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777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F540D-1FE0-8446-CA74-0E629409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DE85F06-C2A4-C117-35DC-762E521C1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18835F6-2C42-6BB0-54B9-8474F3CFA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Indicateurs trop fin sur 7 jours</a:t>
            </a:r>
            <a:br>
              <a:rPr lang="fr-FR"/>
            </a:br>
            <a:r>
              <a:rPr lang="fr-FR"/>
              <a:t>Attention à avoir plusieurs </a:t>
            </a:r>
            <a:r>
              <a:rPr lang="fr-FR" err="1"/>
              <a:t>dashboards</a:t>
            </a:r>
            <a:r>
              <a:rPr lang="fr-FR"/>
              <a:t> qui ont la même information &gt; possibilité </a:t>
            </a:r>
            <a:br>
              <a:rPr lang="fr-FR"/>
            </a:br>
            <a:r>
              <a:rPr lang="fr-FR"/>
              <a:t>Mettre moins d’indicateurs pour démarrer</a:t>
            </a:r>
            <a:br>
              <a:rPr lang="fr-FR"/>
            </a:br>
            <a:r>
              <a:rPr lang="fr-FR"/>
              <a:t>Synthèse mensuelle avoir tous les éléments au mois</a:t>
            </a:r>
            <a:br>
              <a:rPr lang="fr-FR"/>
            </a:br>
            <a:r>
              <a:rPr lang="fr-FR"/>
              <a:t>En rouge indicateurs non pertinents</a:t>
            </a:r>
          </a:p>
          <a:p>
            <a:r>
              <a:rPr lang="fr-FR"/>
              <a:t>A voir si on tourne les indicateurs positivement ou négativement la qualité de données</a:t>
            </a:r>
          </a:p>
          <a:p>
            <a:r>
              <a:rPr lang="fr-FR"/>
              <a:t>En bleu les éléments à valider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D9B213-E316-96CB-4819-D71054379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8B883-1562-40F5-8B05-282F7DF520B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235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0820C-5EFF-7A6B-07D8-F2A4B8F7A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E03964-BBC3-C078-D839-69C94B4CF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2FCE062-B16F-CE35-A009-553818B2F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Indicateurs trop fin sur 7 jours</a:t>
            </a:r>
            <a:br>
              <a:rPr lang="fr-FR"/>
            </a:br>
            <a:r>
              <a:rPr lang="fr-FR"/>
              <a:t>Attention à avoir plusieurs </a:t>
            </a:r>
            <a:r>
              <a:rPr lang="fr-FR" err="1"/>
              <a:t>dashboards</a:t>
            </a:r>
            <a:r>
              <a:rPr lang="fr-FR"/>
              <a:t> qui ont la même information &gt; possibilité </a:t>
            </a:r>
            <a:br>
              <a:rPr lang="fr-FR"/>
            </a:br>
            <a:r>
              <a:rPr lang="fr-FR"/>
              <a:t>Mettre moins d’indicateurs pour démarrer</a:t>
            </a:r>
            <a:br>
              <a:rPr lang="fr-FR"/>
            </a:br>
            <a:r>
              <a:rPr lang="fr-FR"/>
              <a:t>Synthèse mensuelle avoir tous les éléments au mois</a:t>
            </a:r>
            <a:br>
              <a:rPr lang="fr-FR"/>
            </a:br>
            <a:r>
              <a:rPr lang="fr-FR"/>
              <a:t>En rouge indicateurs non pertinents</a:t>
            </a:r>
          </a:p>
          <a:p>
            <a:r>
              <a:rPr lang="fr-FR"/>
              <a:t>A voir si on tourne les indicateurs positivement ou négativement la qualité de données</a:t>
            </a:r>
          </a:p>
          <a:p>
            <a:r>
              <a:rPr lang="fr-FR"/>
              <a:t>En bleu les éléments à valider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B32D83-5AC5-1995-70CB-156F6A58B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8B883-1562-40F5-8B05-282F7DF520B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082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1C3BC-46C7-09EB-3F60-EB69317D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0917D6F-ACCA-EC5A-3807-51A1884CB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175EB38-9707-BA96-417C-FA3238571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Indicateurs trop fin sur 7 jours</a:t>
            </a:r>
            <a:br>
              <a:rPr lang="fr-FR"/>
            </a:br>
            <a:r>
              <a:rPr lang="fr-FR"/>
              <a:t>Attention à avoir plusieurs </a:t>
            </a:r>
            <a:r>
              <a:rPr lang="fr-FR" err="1"/>
              <a:t>dashboards</a:t>
            </a:r>
            <a:r>
              <a:rPr lang="fr-FR"/>
              <a:t> qui ont la même information &gt; possibilité </a:t>
            </a:r>
            <a:br>
              <a:rPr lang="fr-FR"/>
            </a:br>
            <a:r>
              <a:rPr lang="fr-FR"/>
              <a:t>Mettre moins d’indicateurs pour démarrer</a:t>
            </a:r>
            <a:br>
              <a:rPr lang="fr-FR"/>
            </a:br>
            <a:r>
              <a:rPr lang="fr-FR"/>
              <a:t>Synthèse mensuelle avoir tous les éléments au mois</a:t>
            </a:r>
            <a:br>
              <a:rPr lang="fr-FR"/>
            </a:br>
            <a:r>
              <a:rPr lang="fr-FR"/>
              <a:t>En rouge indicateurs non pertinents</a:t>
            </a:r>
          </a:p>
          <a:p>
            <a:r>
              <a:rPr lang="fr-FR"/>
              <a:t>A voir si on tourne les indicateurs positivement ou négativement la qualité de données</a:t>
            </a:r>
          </a:p>
          <a:p>
            <a:r>
              <a:rPr lang="fr-FR"/>
              <a:t>En bleu les éléments à valider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13EBB8-BB8A-6115-840A-9915B8797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8B883-1562-40F5-8B05-282F7DF520B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372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3561-F8C9-444C-8FE0-809C3D3DAE6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49D7-8380-4761-BBAF-C4EBE2CA18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44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3561-F8C9-444C-8FE0-809C3D3DAE6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49D7-8380-4761-BBAF-C4EBE2CA18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138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3561-F8C9-444C-8FE0-809C3D3DAE6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49D7-8380-4761-BBAF-C4EBE2CA18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26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3561-F8C9-444C-8FE0-809C3D3DAE6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49D7-8380-4761-BBAF-C4EBE2CA18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352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3561-F8C9-444C-8FE0-809C3D3DAE6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49D7-8380-4761-BBAF-C4EBE2CA18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38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3561-F8C9-444C-8FE0-809C3D3DAE6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49D7-8380-4761-BBAF-C4EBE2CA18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865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3561-F8C9-444C-8FE0-809C3D3DAE6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49D7-8380-4761-BBAF-C4EBE2CA18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7232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3561-F8C9-444C-8FE0-809C3D3DAE6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49D7-8380-4761-BBAF-C4EBE2CA18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860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3561-F8C9-444C-8FE0-809C3D3DAE6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49D7-8380-4761-BBAF-C4EBE2CA18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361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3561-F8C9-444C-8FE0-809C3D3DAE6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49D7-8380-4761-BBAF-C4EBE2CA18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4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3561-F8C9-444C-8FE0-809C3D3DAE6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49D7-8380-4761-BBAF-C4EBE2CA18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414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C53561-F8C9-444C-8FE0-809C3D3DAE6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2849D7-8380-4761-BBAF-C4EBE2CA18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495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60fc670a-099e-42ff-b885-84c7bf979d31/reports/8a1fe011-cfc2-42ba-9596-31aff9660822/ReportSection1af73846c7c4eb5461ab?experience=power-b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apps/e70929bd-a887-4b8f-913a-83c4cceef011/reports/61718086-e027-4ca2-b123-677c527d9b81/371478befb63abc8a1ad?ctid=0ca49c76-0be9-4654-9437-61dbdf3c3e23&amp;experience=power-bi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pp.powerbi.com/groups/me/apps/e70929bd-a887-4b8f-913a-83c4cceef011/reports/e7034364-3065-4e9f-8ec9-9f8b4ecd757d/8234d655da5cd6dc420d?ctid=0ca49c76-0be9-4654-9437-61dbdf3c3e23&amp;experience=power-bi" TargetMode="External"/><Relationship Id="rId4" Type="http://schemas.openxmlformats.org/officeDocument/2006/relationships/hyperlink" Target="https://app.powerbi.com/groups/me/apps/e70929bd-a887-4b8f-913a-83c4cceef011/reports/61718086-e027-4ca2-b123-677c527d9b81/cae5255f9a818b624ef2?ctid=0ca49c76-0be9-4654-9437-61dbdf3c3e23&amp;experience=power-bi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60fc670a-099e-42ff-b885-84c7bf979d31/reports/8a1fe011-cfc2-42ba-9596-31aff9660822/ReportSection141b0c0f1a8c475cab54?experience=power-bi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metabase.tooling.invivodigitalfactory.com/dashboard/1358-dash-notes-de-production-duplicate?date=2025-07-01~2026-01-28" TargetMode="External"/><Relationship Id="rId4" Type="http://schemas.openxmlformats.org/officeDocument/2006/relationships/hyperlink" Target="https://app.powerbi.com/groups/me/apps/e70929bd-a887-4b8f-913a-83c4cceef011/reports/61718086-e027-4ca2-b123-677c527d9b81/cae5255f9a818b624ef2?ctid=0ca49c76-0be9-4654-9437-61dbdf3c3e23&amp;experience=power-bi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75C71A7E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94730B-15CC-5AC9-A990-6E521AB61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749380"/>
          </a:xfrm>
        </p:spPr>
        <p:txBody>
          <a:bodyPr/>
          <a:lstStyle/>
          <a:p>
            <a:r>
              <a:rPr lang="en-US" noProof="0"/>
              <a:t>Dashboard One Page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DD558B-97B8-E2FC-7C72-31D5954B9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1398494"/>
            <a:ext cx="5915025" cy="570639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noProof="0" err="1"/>
              <a:t>Objectifs</a:t>
            </a:r>
            <a:r>
              <a:rPr lang="en-US" sz="1400" b="1" noProof="0"/>
              <a:t> :</a:t>
            </a:r>
            <a:br>
              <a:rPr lang="en-US" sz="1400" noProof="0"/>
            </a:br>
            <a:r>
              <a:rPr lang="en-US" sz="1400" noProof="0"/>
              <a:t>Les dashboards </a:t>
            </a:r>
            <a:r>
              <a:rPr lang="en-US" sz="1400" noProof="0" err="1"/>
              <a:t>powerBI</a:t>
            </a:r>
            <a:r>
              <a:rPr lang="en-US" sz="1400" noProof="0"/>
              <a:t> Maltimize mis à disposition de </a:t>
            </a:r>
            <a:r>
              <a:rPr lang="en-US" sz="1400" noProof="0" err="1"/>
              <a:t>Malterie</a:t>
            </a:r>
            <a:r>
              <a:rPr lang="en-US" sz="1400" noProof="0"/>
              <a:t> Soufflet </a:t>
            </a:r>
            <a:r>
              <a:rPr lang="en-US" sz="1400" noProof="0" err="1"/>
              <a:t>sont</a:t>
            </a:r>
            <a:r>
              <a:rPr lang="en-US" sz="1400" noProof="0"/>
              <a:t> </a:t>
            </a:r>
            <a:r>
              <a:rPr lang="en-US" sz="1400" noProof="0" err="1"/>
              <a:t>nombreux</a:t>
            </a:r>
            <a:r>
              <a:rPr lang="en-US" sz="1400" noProof="0"/>
              <a:t> </a:t>
            </a:r>
            <a:r>
              <a:rPr lang="en-US" sz="1400" noProof="0" err="1"/>
              <a:t>mais</a:t>
            </a:r>
            <a:r>
              <a:rPr lang="en-US" sz="1400" noProof="0"/>
              <a:t> nous </a:t>
            </a:r>
            <a:r>
              <a:rPr lang="en-US" sz="1400" noProof="0" err="1"/>
              <a:t>n’avons</a:t>
            </a:r>
            <a:r>
              <a:rPr lang="en-US" sz="1400" noProof="0"/>
              <a:t> pas de dashboard qui </a:t>
            </a:r>
            <a:r>
              <a:rPr lang="en-US" sz="1400" noProof="0" err="1"/>
              <a:t>en</a:t>
            </a:r>
            <a:r>
              <a:rPr lang="en-US" sz="1400" noProof="0"/>
              <a:t> </a:t>
            </a:r>
            <a:r>
              <a:rPr lang="en-US" sz="1400" noProof="0" err="1"/>
              <a:t>une</a:t>
            </a:r>
            <a:r>
              <a:rPr lang="en-US" sz="1400" noProof="0"/>
              <a:t> </a:t>
            </a:r>
            <a:r>
              <a:rPr lang="en-US" sz="1400" noProof="0" err="1"/>
              <a:t>vue</a:t>
            </a:r>
            <a:r>
              <a:rPr lang="en-US" sz="1400" noProof="0"/>
              <a:t> </a:t>
            </a:r>
            <a:r>
              <a:rPr lang="en-US" sz="1400" noProof="0" err="1"/>
              <a:t>synthétique</a:t>
            </a:r>
            <a:r>
              <a:rPr lang="en-US" sz="1400" noProof="0"/>
              <a:t> </a:t>
            </a:r>
            <a:r>
              <a:rPr lang="en-US" sz="1400" noProof="0" err="1"/>
              <a:t>permet</a:t>
            </a:r>
            <a:r>
              <a:rPr lang="en-US" sz="1400" noProof="0"/>
              <a:t> de </a:t>
            </a:r>
            <a:r>
              <a:rPr lang="en-US" sz="1400" noProof="0" err="1"/>
              <a:t>voir</a:t>
            </a:r>
            <a:r>
              <a:rPr lang="en-US" sz="1400" noProof="0"/>
              <a:t> </a:t>
            </a:r>
            <a:r>
              <a:rPr lang="en-US" sz="1400" noProof="0" err="1"/>
              <a:t>l’avancement</a:t>
            </a:r>
            <a:r>
              <a:rPr lang="en-US" sz="1400" noProof="0"/>
              <a:t> des </a:t>
            </a:r>
            <a:r>
              <a:rPr lang="en-US" sz="1400" noProof="0" err="1"/>
              <a:t>déploiements</a:t>
            </a:r>
            <a:r>
              <a:rPr lang="en-US" sz="1400" noProof="0"/>
              <a:t> et </a:t>
            </a:r>
            <a:r>
              <a:rPr lang="en-US" sz="1400" noProof="0" err="1"/>
              <a:t>l’adoption</a:t>
            </a:r>
            <a:r>
              <a:rPr lang="en-US" sz="1400" noProof="0"/>
              <a:t> du </a:t>
            </a:r>
            <a:r>
              <a:rPr lang="en-US" sz="1400" noProof="0" err="1"/>
              <a:t>projet</a:t>
            </a:r>
            <a:r>
              <a:rPr lang="en-US" sz="1400" noProof="0"/>
              <a:t> Maltimize.</a:t>
            </a:r>
            <a:br>
              <a:rPr lang="en-US" sz="1400" noProof="0"/>
            </a:br>
            <a:br>
              <a:rPr lang="en-US" sz="1400" noProof="0"/>
            </a:br>
            <a:r>
              <a:rPr lang="en-US" sz="1400" noProof="0" err="1"/>
              <a:t>L’objectif</a:t>
            </a:r>
            <a:r>
              <a:rPr lang="en-US" sz="1400" noProof="0"/>
              <a:t> </a:t>
            </a:r>
            <a:r>
              <a:rPr lang="en-US" sz="1400" noProof="0" err="1"/>
              <a:t>est</a:t>
            </a:r>
            <a:r>
              <a:rPr lang="en-US" sz="1400" noProof="0"/>
              <a:t> de </a:t>
            </a:r>
            <a:r>
              <a:rPr lang="en-US" sz="1400" noProof="0" err="1"/>
              <a:t>construire</a:t>
            </a:r>
            <a:r>
              <a:rPr lang="en-US" sz="1400" noProof="0"/>
              <a:t> un dashboard de </a:t>
            </a:r>
            <a:r>
              <a:rPr lang="en-US" sz="1400" noProof="0" err="1"/>
              <a:t>ce</a:t>
            </a:r>
            <a:r>
              <a:rPr lang="en-US" sz="1400" noProof="0"/>
              <a:t> genre </a:t>
            </a:r>
            <a:r>
              <a:rPr lang="en-US" sz="1400" noProof="0" err="1"/>
              <a:t>rapidement</a:t>
            </a:r>
            <a:r>
              <a:rPr lang="en-US" sz="1400" noProof="0"/>
              <a:t> pour </a:t>
            </a:r>
            <a:r>
              <a:rPr lang="en-US" sz="1400" noProof="0" err="1"/>
              <a:t>pouvoir</a:t>
            </a:r>
            <a:r>
              <a:rPr lang="en-US" sz="1400" noProof="0"/>
              <a:t> </a:t>
            </a:r>
            <a:r>
              <a:rPr lang="en-US" sz="1400" noProof="0" err="1"/>
              <a:t>communiquer</a:t>
            </a:r>
            <a:r>
              <a:rPr lang="en-US" sz="1400" noProof="0"/>
              <a:t> dans les </a:t>
            </a:r>
            <a:r>
              <a:rPr lang="en-US" sz="1400" noProof="0" err="1"/>
              <a:t>différentes</a:t>
            </a:r>
            <a:r>
              <a:rPr lang="en-US" sz="1400" noProof="0"/>
              <a:t> instances </a:t>
            </a:r>
            <a:r>
              <a:rPr lang="en-US" sz="1400" noProof="0" err="1"/>
              <a:t>auprès</a:t>
            </a:r>
            <a:r>
              <a:rPr lang="en-US" sz="1400" noProof="0"/>
              <a:t> de la direction MS et </a:t>
            </a:r>
            <a:r>
              <a:rPr lang="en-US" sz="1400" noProof="0" err="1"/>
              <a:t>d’unifier</a:t>
            </a:r>
            <a:r>
              <a:rPr lang="en-US" sz="1400" noProof="0"/>
              <a:t> </a:t>
            </a:r>
            <a:r>
              <a:rPr lang="en-US" sz="1400" noProof="0" err="1"/>
              <a:t>nos</a:t>
            </a:r>
            <a:r>
              <a:rPr lang="en-US" sz="1400" noProof="0"/>
              <a:t> pratiques vis-à-vis de </a:t>
            </a:r>
            <a:r>
              <a:rPr lang="en-US" sz="1400" noProof="0" err="1"/>
              <a:t>tous</a:t>
            </a:r>
            <a:r>
              <a:rPr lang="en-US" sz="1400" noProof="0"/>
              <a:t> les </a:t>
            </a:r>
            <a:r>
              <a:rPr lang="en-US" sz="1400" noProof="0" err="1"/>
              <a:t>produits</a:t>
            </a:r>
            <a:r>
              <a:rPr lang="en-US" sz="1400" noProof="0"/>
              <a:t> et clients IDF.</a:t>
            </a:r>
          </a:p>
          <a:p>
            <a:pPr marL="0" indent="0">
              <a:buNone/>
            </a:pPr>
            <a:endParaRPr lang="en-US" sz="1400" noProof="0"/>
          </a:p>
          <a:p>
            <a:pPr marL="0" indent="0">
              <a:buNone/>
            </a:pPr>
            <a:r>
              <a:rPr lang="en-US" sz="1400" b="1" noProof="0" err="1"/>
              <a:t>Règles</a:t>
            </a:r>
            <a:r>
              <a:rPr lang="en-US" sz="1400" b="1" noProof="0"/>
              <a:t> de gestion </a:t>
            </a:r>
            <a:r>
              <a:rPr lang="en-US" sz="1400" b="1" noProof="0" err="1"/>
              <a:t>générales</a:t>
            </a:r>
            <a:r>
              <a:rPr lang="en-US" sz="1400" b="1" noProof="0"/>
              <a:t> :</a:t>
            </a:r>
          </a:p>
          <a:p>
            <a:pPr marL="0" indent="0">
              <a:buNone/>
            </a:pPr>
            <a:r>
              <a:rPr lang="en-US" sz="1400" noProof="0"/>
              <a:t>1) Nous </a:t>
            </a:r>
            <a:r>
              <a:rPr lang="en-US" sz="1400" noProof="0" err="1"/>
              <a:t>souhaitons</a:t>
            </a:r>
            <a:r>
              <a:rPr lang="en-US" sz="1400" noProof="0"/>
              <a:t> un dashboard avec 5 </a:t>
            </a:r>
            <a:r>
              <a:rPr lang="en-US" sz="1400" noProof="0" err="1"/>
              <a:t>compartiments</a:t>
            </a:r>
            <a:r>
              <a:rPr lang="en-US" sz="1400" noProof="0"/>
              <a:t> :</a:t>
            </a:r>
          </a:p>
          <a:p>
            <a:pPr>
              <a:buFontTx/>
              <a:buChar char="-"/>
            </a:pPr>
            <a:r>
              <a:rPr lang="en-US" sz="1400" noProof="0" err="1"/>
              <a:t>Généralités</a:t>
            </a:r>
            <a:r>
              <a:rPr lang="en-US" sz="1400" noProof="0"/>
              <a:t> </a:t>
            </a:r>
            <a:r>
              <a:rPr lang="en-US" sz="1400" noProof="0" err="1"/>
              <a:t>avancement</a:t>
            </a:r>
            <a:r>
              <a:rPr lang="en-US" sz="1400" noProof="0"/>
              <a:t> </a:t>
            </a:r>
            <a:r>
              <a:rPr lang="en-US" sz="1400" noProof="0" err="1"/>
              <a:t>déploiement</a:t>
            </a:r>
            <a:endParaRPr lang="en-US" sz="1400" noProof="0"/>
          </a:p>
          <a:p>
            <a:pPr>
              <a:buFontTx/>
              <a:buChar char="-"/>
            </a:pPr>
            <a:r>
              <a:rPr lang="en-US" sz="1400" noProof="0" err="1"/>
              <a:t>Connexions</a:t>
            </a:r>
            <a:endParaRPr lang="en-US" sz="1400" noProof="0"/>
          </a:p>
          <a:p>
            <a:pPr>
              <a:buFontTx/>
              <a:buChar char="-"/>
            </a:pPr>
            <a:r>
              <a:rPr lang="en-US" sz="1400" noProof="0"/>
              <a:t>Données : </a:t>
            </a:r>
            <a:r>
              <a:rPr lang="en-US" sz="1400" noProof="0" err="1"/>
              <a:t>complétude</a:t>
            </a:r>
            <a:r>
              <a:rPr lang="en-US" sz="1400" noProof="0"/>
              <a:t> et </a:t>
            </a:r>
            <a:r>
              <a:rPr lang="en-US" sz="1400" noProof="0" err="1"/>
              <a:t>qualité</a:t>
            </a:r>
            <a:endParaRPr lang="en-US" sz="1400" noProof="0"/>
          </a:p>
          <a:p>
            <a:pPr>
              <a:buFontTx/>
              <a:buChar char="-"/>
            </a:pPr>
            <a:r>
              <a:rPr lang="en-US" sz="1400" noProof="0"/>
              <a:t>Focus </a:t>
            </a:r>
            <a:r>
              <a:rPr lang="en-US" sz="1400" noProof="0" err="1"/>
              <a:t>recommandation</a:t>
            </a:r>
            <a:r>
              <a:rPr lang="en-US" sz="1400" noProof="0"/>
              <a:t> IA</a:t>
            </a:r>
          </a:p>
          <a:p>
            <a:pPr>
              <a:buFontTx/>
              <a:buChar char="-"/>
            </a:pPr>
            <a:r>
              <a:rPr lang="en-US" sz="1400" noProof="0"/>
              <a:t>Focus notes de productions et </a:t>
            </a:r>
            <a:r>
              <a:rPr lang="en-US" sz="1400" noProof="0" err="1"/>
              <a:t>Suivi</a:t>
            </a:r>
            <a:r>
              <a:rPr lang="en-US" sz="1400" noProof="0"/>
              <a:t> des temps</a:t>
            </a:r>
          </a:p>
          <a:p>
            <a:pPr marL="0" indent="0">
              <a:buNone/>
            </a:pPr>
            <a:r>
              <a:rPr lang="en-US" sz="1400" noProof="0"/>
              <a:t>2) Le dashboard doit </a:t>
            </a:r>
            <a:r>
              <a:rPr lang="en-US" sz="1400" noProof="0" err="1"/>
              <a:t>être</a:t>
            </a:r>
            <a:r>
              <a:rPr lang="en-US" sz="1400" noProof="0"/>
              <a:t> </a:t>
            </a:r>
            <a:r>
              <a:rPr lang="en-US" sz="1400" noProof="0" err="1"/>
              <a:t>entièrement</a:t>
            </a:r>
            <a:r>
              <a:rPr lang="en-US" sz="1400" noProof="0"/>
              <a:t> </a:t>
            </a:r>
            <a:r>
              <a:rPr lang="en-US" sz="1400" noProof="0" err="1"/>
              <a:t>en</a:t>
            </a:r>
            <a:r>
              <a:rPr lang="en-US" sz="1400" noProof="0"/>
              <a:t> </a:t>
            </a:r>
            <a:r>
              <a:rPr lang="en-US" sz="1400" noProof="0" err="1"/>
              <a:t>anglais</a:t>
            </a:r>
            <a:r>
              <a:rPr lang="en-US" sz="1400" noProof="0"/>
              <a:t> pour </a:t>
            </a:r>
            <a:r>
              <a:rPr lang="en-US" sz="1400" noProof="0" err="1"/>
              <a:t>être</a:t>
            </a:r>
            <a:r>
              <a:rPr lang="en-US" sz="1400" noProof="0"/>
              <a:t> </a:t>
            </a:r>
            <a:r>
              <a:rPr lang="en-US" sz="1400" noProof="0" err="1"/>
              <a:t>utilisé</a:t>
            </a:r>
            <a:r>
              <a:rPr lang="en-US" sz="1400" noProof="0"/>
              <a:t> dans </a:t>
            </a:r>
            <a:r>
              <a:rPr lang="en-US" sz="1400" noProof="0" err="1"/>
              <a:t>toutes</a:t>
            </a:r>
            <a:r>
              <a:rPr lang="en-US" sz="1400" noProof="0"/>
              <a:t> les instances</a:t>
            </a:r>
          </a:p>
          <a:p>
            <a:pPr marL="0" indent="0">
              <a:buNone/>
            </a:pPr>
            <a:r>
              <a:rPr lang="en-US" sz="1400" noProof="0"/>
              <a:t>3) </a:t>
            </a:r>
            <a:r>
              <a:rPr lang="en-US" sz="1400" noProof="0" err="1"/>
              <a:t>Besoin</a:t>
            </a:r>
            <a:r>
              <a:rPr lang="en-US" sz="1400" noProof="0"/>
              <a:t> de refresh : minimum </a:t>
            </a:r>
            <a:r>
              <a:rPr lang="en-US" sz="1400" noProof="0" err="1"/>
              <a:t>une</a:t>
            </a:r>
            <a:r>
              <a:rPr lang="en-US" sz="1400" noProof="0"/>
              <a:t> </a:t>
            </a:r>
            <a:r>
              <a:rPr lang="en-US" sz="1400" noProof="0" err="1"/>
              <a:t>fois</a:t>
            </a:r>
            <a:r>
              <a:rPr lang="en-US" sz="1400" noProof="0"/>
              <a:t> par jour</a:t>
            </a:r>
          </a:p>
          <a:p>
            <a:pPr marL="0" indent="0">
              <a:buNone/>
            </a:pPr>
            <a:r>
              <a:rPr lang="en-US" sz="1400" noProof="0"/>
              <a:t>4) Le design de la maquette ne doit pas </a:t>
            </a:r>
            <a:r>
              <a:rPr lang="en-US" sz="1400" noProof="0" err="1"/>
              <a:t>forcément</a:t>
            </a:r>
            <a:r>
              <a:rPr lang="en-US" sz="1400" noProof="0"/>
              <a:t> </a:t>
            </a:r>
            <a:r>
              <a:rPr lang="en-US" sz="1400" noProof="0" err="1"/>
              <a:t>être</a:t>
            </a:r>
            <a:r>
              <a:rPr lang="en-US" sz="1400" noProof="0"/>
              <a:t> </a:t>
            </a:r>
            <a:r>
              <a:rPr lang="en-US" sz="1400" noProof="0" err="1"/>
              <a:t>respecté</a:t>
            </a:r>
            <a:r>
              <a:rPr lang="en-US" sz="1400" noProof="0"/>
              <a:t> il </a:t>
            </a:r>
            <a:r>
              <a:rPr lang="en-US" sz="1400" noProof="0" err="1"/>
              <a:t>s’agit</a:t>
            </a:r>
            <a:r>
              <a:rPr lang="en-US" sz="1400" noProof="0"/>
              <a:t> d’un </a:t>
            </a:r>
            <a:r>
              <a:rPr lang="en-US" sz="1400" noProof="0" err="1"/>
              <a:t>exemple</a:t>
            </a:r>
            <a:r>
              <a:rPr lang="en-US" sz="1400" noProof="0"/>
              <a:t> de </a:t>
            </a:r>
            <a:r>
              <a:rPr lang="en-US" sz="1400" noProof="0" err="1"/>
              <a:t>rendu</a:t>
            </a:r>
            <a:endParaRPr lang="en-US" sz="1400" noProof="0"/>
          </a:p>
          <a:p>
            <a:pPr marL="0" indent="0">
              <a:buNone/>
            </a:pPr>
            <a:r>
              <a:rPr lang="en-US" sz="1400" noProof="0"/>
              <a:t>5) </a:t>
            </a:r>
            <a:r>
              <a:rPr lang="en-US" sz="1400" noProof="0" err="1"/>
              <a:t>Ajouter</a:t>
            </a:r>
            <a:r>
              <a:rPr lang="en-US" sz="1400" noProof="0"/>
              <a:t> un </a:t>
            </a:r>
            <a:r>
              <a:rPr lang="en-US" sz="1400" noProof="0" err="1"/>
              <a:t>filtre</a:t>
            </a:r>
            <a:r>
              <a:rPr lang="en-US" sz="1400" noProof="0"/>
              <a:t> date et un </a:t>
            </a:r>
            <a:r>
              <a:rPr lang="en-US" sz="1400" noProof="0" err="1"/>
              <a:t>filtre</a:t>
            </a:r>
            <a:r>
              <a:rPr lang="en-US" sz="1400" noProof="0"/>
              <a:t> sites pour </a:t>
            </a:r>
            <a:r>
              <a:rPr lang="en-US" sz="1400" noProof="0" err="1"/>
              <a:t>pouvoir</a:t>
            </a:r>
            <a:r>
              <a:rPr lang="en-US" sz="1400" noProof="0"/>
              <a:t> </a:t>
            </a:r>
            <a:r>
              <a:rPr lang="en-US" sz="1400" noProof="0" err="1"/>
              <a:t>sélectionner</a:t>
            </a:r>
            <a:r>
              <a:rPr lang="en-US" sz="1400" noProof="0"/>
              <a:t> un </a:t>
            </a:r>
            <a:r>
              <a:rPr lang="en-US" sz="1400" noProof="0" err="1"/>
              <a:t>ou</a:t>
            </a:r>
            <a:r>
              <a:rPr lang="en-US" sz="1400" noProof="0"/>
              <a:t> </a:t>
            </a:r>
            <a:r>
              <a:rPr lang="en-US" sz="1400" noProof="0" err="1"/>
              <a:t>plusieurs</a:t>
            </a:r>
            <a:r>
              <a:rPr lang="en-US" sz="1400" noProof="0"/>
              <a:t> sites</a:t>
            </a:r>
          </a:p>
          <a:p>
            <a:pPr marL="0" indent="0">
              <a:buNone/>
            </a:pPr>
            <a:endParaRPr lang="en-US" sz="1400" noProof="0"/>
          </a:p>
          <a:p>
            <a:pPr marL="0" indent="0">
              <a:buNone/>
            </a:pPr>
            <a:endParaRPr lang="en-US" sz="1400" noProof="0"/>
          </a:p>
          <a:p>
            <a:pPr marL="0" indent="0">
              <a:buNone/>
            </a:pPr>
            <a:endParaRPr lang="en-US" sz="1400" noProof="0"/>
          </a:p>
          <a:p>
            <a:pPr marL="0" indent="0">
              <a:buNone/>
            </a:pPr>
            <a:r>
              <a:rPr lang="en-US" sz="1400" b="1" noProof="0" err="1"/>
              <a:t>Complexité</a:t>
            </a:r>
            <a:r>
              <a:rPr lang="en-US" sz="1400" b="1" noProof="0"/>
              <a:t> :</a:t>
            </a:r>
          </a:p>
          <a:p>
            <a:pPr marL="0" indent="0">
              <a:buNone/>
            </a:pPr>
            <a:r>
              <a:rPr lang="en-US" sz="1400" noProof="0"/>
              <a:t>- Sources de données multiples</a:t>
            </a:r>
          </a:p>
          <a:p>
            <a:pPr marL="342900" indent="-342900">
              <a:buAutoNum type="arabicParenR"/>
            </a:pPr>
            <a:endParaRPr lang="en-US" sz="1400" noProof="0"/>
          </a:p>
          <a:p>
            <a:pPr>
              <a:buFontTx/>
              <a:buChar char="-"/>
            </a:pPr>
            <a:endParaRPr lang="en-US" sz="1400" noProof="0"/>
          </a:p>
          <a:p>
            <a:pPr>
              <a:buFontTx/>
              <a:buChar char="-"/>
            </a:pPr>
            <a:endParaRPr lang="en-US" sz="1400" noProof="0"/>
          </a:p>
          <a:p>
            <a:pPr>
              <a:buFontTx/>
              <a:buChar char="-"/>
            </a:pPr>
            <a:endParaRPr lang="en-US" sz="1400" noProof="0"/>
          </a:p>
          <a:p>
            <a:pPr>
              <a:buFontTx/>
              <a:buChar char="-"/>
            </a:pPr>
            <a:endParaRPr lang="en-US" sz="1400" noProof="0"/>
          </a:p>
        </p:txBody>
      </p:sp>
    </p:spTree>
    <p:extLst>
      <p:ext uri="{BB962C8B-B14F-4D97-AF65-F5344CB8AC3E}">
        <p14:creationId xmlns:p14="http://schemas.microsoft.com/office/powerpoint/2010/main" val="2467726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9CEBD-CC28-300D-D861-08065B8BD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0949E7-50D5-0678-6FCE-E4B8E93CAD4A}"/>
              </a:ext>
            </a:extLst>
          </p:cNvPr>
          <p:cNvSpPr/>
          <p:nvPr/>
        </p:nvSpPr>
        <p:spPr>
          <a:xfrm>
            <a:off x="1973001" y="1412283"/>
            <a:ext cx="1440000" cy="8808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14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Metamodels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39C3A3-4B0D-FBDE-FA26-2F84820F48B9}"/>
              </a:ext>
            </a:extLst>
          </p:cNvPr>
          <p:cNvSpPr/>
          <p:nvPr/>
        </p:nvSpPr>
        <p:spPr>
          <a:xfrm>
            <a:off x="3521268" y="1422201"/>
            <a:ext cx="1440000" cy="8808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7</a:t>
            </a:r>
          </a:p>
          <a:p>
            <a:pPr lvl="0" algn="ctr"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 Recommendations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640308B-EB1D-0416-D79B-F0E465BCAFF2}"/>
              </a:ext>
            </a:extLst>
          </p:cNvPr>
          <p:cNvSpPr txBox="1"/>
          <p:nvPr/>
        </p:nvSpPr>
        <p:spPr>
          <a:xfrm>
            <a:off x="176848" y="782711"/>
            <a:ext cx="659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/>
              <a:t>1. </a:t>
            </a:r>
            <a:r>
              <a:rPr lang="en-US" sz="2000" b="1" noProof="0" err="1"/>
              <a:t>Détails</a:t>
            </a:r>
            <a:r>
              <a:rPr lang="en-US" sz="2000" b="1" noProof="0"/>
              <a:t> : Production Line Deployment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556CBC-477B-2DC4-94BD-2DD1B45CEFAA}"/>
              </a:ext>
            </a:extLst>
          </p:cNvPr>
          <p:cNvSpPr/>
          <p:nvPr/>
        </p:nvSpPr>
        <p:spPr>
          <a:xfrm>
            <a:off x="5058952" y="1419311"/>
            <a:ext cx="1440000" cy="8808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6</a:t>
            </a: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schemeClr val="tx1"/>
                </a:solidFill>
              </a:rPr>
              <a:t>Time Tracking &amp; Production Notes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636E22-11BF-2108-3F71-3605E2C682B3}"/>
              </a:ext>
            </a:extLst>
          </p:cNvPr>
          <p:cNvSpPr/>
          <p:nvPr/>
        </p:nvSpPr>
        <p:spPr>
          <a:xfrm>
            <a:off x="360198" y="1419311"/>
            <a:ext cx="1440000" cy="8808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14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 digitalization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FA6E428-DE5D-FF27-4749-2E01980CF22B}"/>
              </a:ext>
            </a:extLst>
          </p:cNvPr>
          <p:cNvSpPr txBox="1"/>
          <p:nvPr/>
        </p:nvSpPr>
        <p:spPr>
          <a:xfrm>
            <a:off x="521747" y="9554141"/>
            <a:ext cx="5651613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sz="1100" u="sng" noProof="0">
                <a:latin typeface="Segoe UI" panose="020B0502040204020203" pitchFamily="34" charset="0"/>
              </a:rPr>
              <a:t>Demandes </a:t>
            </a:r>
            <a:r>
              <a:rPr lang="en-US" sz="1100" u="sng" noProof="0" err="1">
                <a:latin typeface="Segoe UI" panose="020B0502040204020203" pitchFamily="34" charset="0"/>
              </a:rPr>
              <a:t>complémentaires</a:t>
            </a:r>
            <a:r>
              <a:rPr lang="en-US" sz="1100" u="sng" noProof="0">
                <a:latin typeface="Segoe UI" panose="020B0502040204020203" pitchFamily="34" charset="0"/>
              </a:rPr>
              <a:t> :</a:t>
            </a:r>
          </a:p>
          <a:p>
            <a:pPr fontAlgn="t">
              <a:buNone/>
            </a:pPr>
            <a:br>
              <a:rPr lang="en-US" sz="1100" noProof="0">
                <a:latin typeface="Segoe UI" panose="020B0502040204020203" pitchFamily="34" charset="0"/>
              </a:rPr>
            </a:br>
            <a:r>
              <a:rPr lang="en-US" sz="1100" noProof="0">
                <a:latin typeface="Segoe UI" panose="020B0502040204020203" pitchFamily="34" charset="0"/>
              </a:rPr>
              <a:t> Le métier MS </a:t>
            </a:r>
            <a:r>
              <a:rPr lang="en-US" sz="1100" noProof="0" err="1">
                <a:latin typeface="Segoe UI" panose="020B0502040204020203" pitchFamily="34" charset="0"/>
              </a:rPr>
              <a:t>aimerait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ajouter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ces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informations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complémentaires</a:t>
            </a:r>
            <a:r>
              <a:rPr lang="en-US" sz="1100" noProof="0">
                <a:latin typeface="Segoe UI" panose="020B0502040204020203" pitchFamily="34" charset="0"/>
              </a:rPr>
              <a:t>. Mais </a:t>
            </a:r>
            <a:r>
              <a:rPr lang="en-US" sz="1100" noProof="0" err="1">
                <a:latin typeface="Segoe UI" panose="020B0502040204020203" pitchFamily="34" charset="0"/>
              </a:rPr>
              <a:t>cela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est</a:t>
            </a:r>
            <a:r>
              <a:rPr lang="en-US" sz="1100" noProof="0">
                <a:latin typeface="Segoe UI" panose="020B0502040204020203" pitchFamily="34" charset="0"/>
              </a:rPr>
              <a:t> hors du </a:t>
            </a:r>
            <a:r>
              <a:rPr lang="en-US" sz="1100" noProof="0" err="1">
                <a:latin typeface="Segoe UI" panose="020B0502040204020203" pitchFamily="34" charset="0"/>
              </a:rPr>
              <a:t>périmètre</a:t>
            </a:r>
            <a:r>
              <a:rPr lang="en-US" sz="1100" noProof="0">
                <a:latin typeface="Segoe UI" panose="020B0502040204020203" pitchFamily="34" charset="0"/>
              </a:rPr>
              <a:t> IDF.</a:t>
            </a:r>
            <a:br>
              <a:rPr lang="en-US" sz="1100" noProof="0">
                <a:latin typeface="Segoe UI" panose="020B0502040204020203" pitchFamily="34" charset="0"/>
              </a:rPr>
            </a:br>
            <a:endParaRPr lang="en-US" sz="1100" noProof="0">
              <a:latin typeface="Segoe UI" panose="020B0502040204020203" pitchFamily="34" charset="0"/>
            </a:endParaRPr>
          </a:p>
        </p:txBody>
      </p:sp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71A7A90E-BD59-5403-D6EF-195F3F6CB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556265"/>
              </p:ext>
            </p:extLst>
          </p:nvPr>
        </p:nvGraphicFramePr>
        <p:xfrm>
          <a:off x="521748" y="7660807"/>
          <a:ext cx="5651613" cy="1828800"/>
        </p:xfrm>
        <a:graphic>
          <a:graphicData uri="http://schemas.openxmlformats.org/drawingml/2006/table">
            <a:tbl>
              <a:tblPr bandRow="1">
                <a:tableStyleId>{F2DE63D5-997A-4646-A377-4702673A728D}</a:tableStyleId>
              </a:tblPr>
              <a:tblGrid>
                <a:gridCol w="1883871">
                  <a:extLst>
                    <a:ext uri="{9D8B030D-6E8A-4147-A177-3AD203B41FA5}">
                      <a16:colId xmlns:a16="http://schemas.microsoft.com/office/drawing/2014/main" val="169448599"/>
                    </a:ext>
                  </a:extLst>
                </a:gridCol>
                <a:gridCol w="1883871">
                  <a:extLst>
                    <a:ext uri="{9D8B030D-6E8A-4147-A177-3AD203B41FA5}">
                      <a16:colId xmlns:a16="http://schemas.microsoft.com/office/drawing/2014/main" val="2126764685"/>
                    </a:ext>
                  </a:extLst>
                </a:gridCol>
                <a:gridCol w="1883871">
                  <a:extLst>
                    <a:ext uri="{9D8B030D-6E8A-4147-A177-3AD203B41FA5}">
                      <a16:colId xmlns:a16="http://schemas.microsoft.com/office/drawing/2014/main" val="1045120473"/>
                    </a:ext>
                  </a:extLst>
                </a:gridCol>
              </a:tblGrid>
              <a:tr h="596381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/>
                        <a:t>Cybersecurity (</a:t>
                      </a:r>
                      <a:r>
                        <a:rPr lang="en-US" sz="1200" noProof="0" err="1">
                          <a:effectLst/>
                          <a:latin typeface="-apple-system"/>
                        </a:rPr>
                        <a:t>ligne</a:t>
                      </a:r>
                      <a:r>
                        <a:rPr lang="en-US" sz="1200" noProof="0">
                          <a:effectLst/>
                          <a:latin typeface="-apple-system"/>
                        </a:rPr>
                        <a:t> avec </a:t>
                      </a:r>
                      <a:r>
                        <a:rPr lang="en-US" sz="1200" noProof="0" err="1">
                          <a:effectLst/>
                          <a:latin typeface="-apple-system"/>
                        </a:rPr>
                        <a:t>règles</a:t>
                      </a:r>
                      <a:r>
                        <a:rPr lang="en-US" sz="1200" noProof="0">
                          <a:effectLst/>
                          <a:latin typeface="-apple-system"/>
                        </a:rPr>
                        <a:t> cyber </a:t>
                      </a:r>
                      <a:r>
                        <a:rPr lang="en-US" sz="1200" noProof="0" err="1">
                          <a:effectLst/>
                          <a:latin typeface="-apple-system"/>
                        </a:rPr>
                        <a:t>implémentées</a:t>
                      </a:r>
                      <a:r>
                        <a:rPr lang="en-US" sz="1200" noProof="0">
                          <a:effectLst/>
                          <a:latin typeface="-apple-system"/>
                        </a:rPr>
                        <a:t>)</a:t>
                      </a:r>
                      <a:endParaRPr lang="en-US" sz="1200" b="1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/>
                        <a:t>AVEVA (</a:t>
                      </a:r>
                      <a:r>
                        <a:rPr lang="en-US" sz="1200" noProof="0">
                          <a:effectLst/>
                          <a:latin typeface="-apple-system"/>
                        </a:rPr>
                        <a:t>Infra de </a:t>
                      </a:r>
                      <a:r>
                        <a:rPr lang="en-US" sz="1200" noProof="0" err="1">
                          <a:effectLst/>
                          <a:latin typeface="-apple-system"/>
                        </a:rPr>
                        <a:t>collecte</a:t>
                      </a:r>
                      <a:r>
                        <a:rPr lang="en-US" sz="1200" noProof="0">
                          <a:effectLst/>
                          <a:latin typeface="-apple-system"/>
                        </a:rPr>
                        <a:t> (AVEVA) </a:t>
                      </a:r>
                      <a:r>
                        <a:rPr lang="en-US" sz="1200" noProof="0" err="1">
                          <a:effectLst/>
                          <a:latin typeface="-apple-system"/>
                        </a:rPr>
                        <a:t>installés</a:t>
                      </a:r>
                      <a:r>
                        <a:rPr lang="en-US" sz="1200" b="1" noProof="0">
                          <a:effectLst/>
                          <a:latin typeface="-apple-system"/>
                        </a:rPr>
                        <a:t>)</a:t>
                      </a:r>
                      <a:endParaRPr lang="en-US" sz="1200" noProof="0">
                        <a:effectLst/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err="1"/>
                        <a:t>Dataplateform</a:t>
                      </a:r>
                      <a:r>
                        <a:rPr lang="en-US" sz="1200" b="1" noProof="0"/>
                        <a:t> &amp; Historization (</a:t>
                      </a:r>
                      <a:r>
                        <a:rPr lang="en-US" sz="1200" noProof="0" err="1">
                          <a:effectLst/>
                          <a:latin typeface="-apple-system"/>
                        </a:rPr>
                        <a:t>Historisation</a:t>
                      </a:r>
                      <a:r>
                        <a:rPr lang="en-US" sz="1200" noProof="0">
                          <a:effectLst/>
                          <a:latin typeface="-apple-system"/>
                        </a:rPr>
                        <a:t> des données </a:t>
                      </a:r>
                      <a:r>
                        <a:rPr lang="en-US" sz="1200" noProof="0" err="1">
                          <a:effectLst/>
                          <a:latin typeface="-apple-system"/>
                        </a:rPr>
                        <a:t>lancées</a:t>
                      </a:r>
                      <a:r>
                        <a:rPr lang="en-US" sz="1200" b="1" noProof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03467"/>
                  </a:ext>
                </a:extLst>
              </a:tr>
              <a:tr h="403564">
                <a:tc>
                  <a:txBody>
                    <a:bodyPr/>
                    <a:lstStyle/>
                    <a:p>
                      <a:r>
                        <a:rPr lang="en-US" sz="1200" noProof="0"/>
                        <a:t>Info MS </a:t>
                      </a:r>
                      <a:r>
                        <a:rPr lang="en-US" sz="1200" noProof="0" err="1"/>
                        <a:t>uniquement</a:t>
                      </a:r>
                      <a:endParaRPr lang="en-US" sz="1200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noProof="0"/>
                        <a:t>Info MS </a:t>
                      </a:r>
                      <a:r>
                        <a:rPr lang="en-US" sz="1200" b="0" noProof="0" err="1"/>
                        <a:t>uniquement</a:t>
                      </a:r>
                      <a:endParaRPr lang="en-US" sz="1200" b="0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</a:rPr>
                        <a:t>A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</a:rPr>
                        <a:t>voir</a:t>
                      </a:r>
                      <a:r>
                        <a:rPr lang="en-US" sz="1200" noProof="0">
                          <a:latin typeface="Segoe UI" panose="020B0502040204020203" pitchFamily="34" charset="0"/>
                        </a:rPr>
                        <a:t> avec les DE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</a:rPr>
                        <a:t>ou</a:t>
                      </a:r>
                      <a:r>
                        <a:rPr lang="en-US" sz="1200" noProof="0">
                          <a:latin typeface="Segoe UI" panose="020B0502040204020203" pitchFamily="34" charset="0"/>
                        </a:rPr>
                        <a:t> Jean-Marc PACHOLCZYK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</a:rPr>
                        <a:t>si</a:t>
                      </a:r>
                      <a:r>
                        <a:rPr lang="en-US" sz="1200" noProof="0">
                          <a:latin typeface="Segoe UI" panose="020B0502040204020203" pitchFamily="34" charset="0"/>
                        </a:rPr>
                        <a:t> on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</a:rPr>
                        <a:t>peut</a:t>
                      </a:r>
                      <a:r>
                        <a:rPr lang="en-US" sz="1200" noProof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</a:rPr>
                        <a:t>obtenir</a:t>
                      </a:r>
                      <a:r>
                        <a:rPr lang="en-US" sz="1200" noProof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</a:rPr>
                        <a:t>cette</a:t>
                      </a:r>
                      <a:r>
                        <a:rPr lang="en-US" sz="1200" noProof="0">
                          <a:latin typeface="Segoe UI" panose="020B0502040204020203" pitchFamily="34" charset="0"/>
                        </a:rPr>
                        <a:t> information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</a:rPr>
                        <a:t>en</a:t>
                      </a:r>
                      <a:r>
                        <a:rPr lang="en-US" sz="1200" noProof="0">
                          <a:latin typeface="Segoe UI" panose="020B0502040204020203" pitchFamily="34" charset="0"/>
                        </a:rPr>
                        <a:t> auto ?</a:t>
                      </a:r>
                      <a:br>
                        <a:rPr lang="en-US" sz="1200" noProof="0">
                          <a:latin typeface="Segoe UI" panose="020B0502040204020203" pitchFamily="34" charset="0"/>
                        </a:rPr>
                      </a:br>
                      <a:endParaRPr lang="en-US" sz="1200" b="1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280581"/>
                  </a:ext>
                </a:extLst>
              </a:tr>
            </a:tbl>
          </a:graphicData>
        </a:graphic>
      </p:graphicFrame>
      <p:sp>
        <p:nvSpPr>
          <p:cNvPr id="34" name="ZoneTexte 33">
            <a:extLst>
              <a:ext uri="{FF2B5EF4-FFF2-40B4-BE49-F238E27FC236}">
                <a16:creationId xmlns:a16="http://schemas.microsoft.com/office/drawing/2014/main" id="{CA290247-0AB7-C5F3-304D-F03ACF3FF277}"/>
              </a:ext>
            </a:extLst>
          </p:cNvPr>
          <p:cNvSpPr txBox="1"/>
          <p:nvPr/>
        </p:nvSpPr>
        <p:spPr>
          <a:xfrm>
            <a:off x="455174" y="2554915"/>
            <a:ext cx="6132187" cy="43242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t">
              <a:buNone/>
            </a:pPr>
            <a:r>
              <a:rPr lang="en-US" sz="1100" b="1" i="1" noProof="0" dirty="0">
                <a:latin typeface="Segoe UI"/>
                <a:cs typeface="Segoe UI"/>
              </a:rPr>
              <a:t>Ci-dessus les données </a:t>
            </a:r>
            <a:r>
              <a:rPr lang="en-US" sz="1100" b="1" i="1" noProof="0" dirty="0" err="1">
                <a:latin typeface="Segoe UI"/>
                <a:cs typeface="Segoe UI"/>
              </a:rPr>
              <a:t>souhaitées</a:t>
            </a:r>
            <a:r>
              <a:rPr lang="en-US" sz="1100" b="1" i="1" noProof="0" dirty="0">
                <a:latin typeface="Segoe UI"/>
                <a:cs typeface="Segoe UI"/>
              </a:rPr>
              <a:t> indispensables.</a:t>
            </a:r>
          </a:p>
          <a:p>
            <a:pPr fontAlgn="t">
              <a:buNone/>
            </a:pPr>
            <a:endParaRPr lang="en-US" sz="1100" b="1" i="1" noProof="0">
              <a:latin typeface="Segoe UI" panose="020B0502040204020203" pitchFamily="34" charset="0"/>
            </a:endParaRPr>
          </a:p>
          <a:p>
            <a:pPr fontAlgn="t">
              <a:buNone/>
            </a:pPr>
            <a:endParaRPr lang="en-US" sz="1100" b="1" i="1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u="sng" noProof="0" dirty="0" err="1">
                <a:latin typeface="Segoe UI"/>
                <a:cs typeface="Segoe UI"/>
              </a:rPr>
              <a:t>Précisions</a:t>
            </a:r>
            <a:r>
              <a:rPr lang="en-US" sz="1100" b="1" u="sng" noProof="0" dirty="0">
                <a:latin typeface="Segoe UI"/>
                <a:cs typeface="Segoe UI"/>
              </a:rPr>
              <a:t> sur </a:t>
            </a:r>
            <a:r>
              <a:rPr lang="en-US" sz="1100" b="1" u="sng" noProof="0" dirty="0" err="1">
                <a:latin typeface="Segoe UI"/>
                <a:cs typeface="Segoe UI"/>
              </a:rPr>
              <a:t>chaque</a:t>
            </a:r>
            <a:r>
              <a:rPr lang="en-US" sz="1100" b="1" u="sng" noProof="0" dirty="0">
                <a:latin typeface="Segoe UI"/>
                <a:cs typeface="Segoe UI"/>
              </a:rPr>
              <a:t> data :</a:t>
            </a: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noProof="0" dirty="0">
                <a:latin typeface="Segoe UI"/>
                <a:cs typeface="Segoe UI"/>
              </a:rPr>
              <a:t>La </a:t>
            </a:r>
            <a:r>
              <a:rPr lang="en-US" sz="1100" b="1" noProof="0" dirty="0">
                <a:latin typeface="Segoe UI"/>
                <a:cs typeface="Segoe UI"/>
              </a:rPr>
              <a:t>data digitalization </a:t>
            </a:r>
            <a:r>
              <a:rPr lang="en-US" sz="1100" noProof="0" dirty="0">
                <a:latin typeface="Segoe UI"/>
                <a:cs typeface="Segoe UI"/>
              </a:rPr>
              <a:t>correspond au </a:t>
            </a:r>
            <a:r>
              <a:rPr lang="en-US" sz="1100" noProof="0" dirty="0" err="1">
                <a:latin typeface="Segoe UI"/>
                <a:cs typeface="Segoe UI"/>
              </a:rPr>
              <a:t>nombre</a:t>
            </a:r>
            <a:r>
              <a:rPr lang="en-US" sz="1100" noProof="0" dirty="0">
                <a:latin typeface="Segoe UI"/>
                <a:cs typeface="Segoe UI"/>
              </a:rPr>
              <a:t> de sites qui </a:t>
            </a:r>
            <a:r>
              <a:rPr lang="en-US" sz="1100" noProof="0" dirty="0" err="1">
                <a:latin typeface="Segoe UI"/>
                <a:cs typeface="Segoe UI"/>
              </a:rPr>
              <a:t>dont</a:t>
            </a:r>
            <a:r>
              <a:rPr lang="en-US" sz="1100" noProof="0" dirty="0">
                <a:latin typeface="Segoe UI"/>
                <a:cs typeface="Segoe UI"/>
              </a:rPr>
              <a:t> les data </a:t>
            </a:r>
            <a:r>
              <a:rPr lang="en-US" sz="1100" noProof="0" dirty="0" err="1">
                <a:latin typeface="Segoe UI"/>
                <a:cs typeface="Segoe UI"/>
              </a:rPr>
              <a:t>manuelles</a:t>
            </a:r>
            <a:r>
              <a:rPr lang="en-US" sz="1100" noProof="0" dirty="0">
                <a:latin typeface="Segoe UI"/>
                <a:cs typeface="Segoe UI"/>
              </a:rPr>
              <a:t> </a:t>
            </a:r>
            <a:r>
              <a:rPr lang="en-US" sz="1100" noProof="0" dirty="0" err="1">
                <a:latin typeface="Segoe UI"/>
                <a:cs typeface="Segoe UI"/>
              </a:rPr>
              <a:t>ont</a:t>
            </a:r>
            <a:r>
              <a:rPr lang="en-US" sz="1100" noProof="0" dirty="0">
                <a:latin typeface="Segoe UI"/>
                <a:cs typeface="Segoe UI"/>
              </a:rPr>
              <a:t> </a:t>
            </a:r>
            <a:r>
              <a:rPr lang="en-US" sz="1100" noProof="0" dirty="0" err="1">
                <a:latin typeface="Segoe UI"/>
                <a:cs typeface="Segoe UI"/>
              </a:rPr>
              <a:t>été</a:t>
            </a:r>
            <a:r>
              <a:rPr lang="en-US" sz="1100" noProof="0" dirty="0">
                <a:latin typeface="Segoe UI"/>
                <a:cs typeface="Segoe UI"/>
              </a:rPr>
              <a:t> </a:t>
            </a:r>
            <a:r>
              <a:rPr lang="en-US" sz="1100" noProof="0" dirty="0" err="1">
                <a:latin typeface="Segoe UI"/>
                <a:cs typeface="Segoe UI"/>
              </a:rPr>
              <a:t>intégrées</a:t>
            </a:r>
            <a:r>
              <a:rPr lang="en-US" sz="1100" noProof="0" dirty="0">
                <a:latin typeface="Segoe UI"/>
                <a:cs typeface="Segoe UI"/>
              </a:rPr>
              <a:t> </a:t>
            </a:r>
            <a:r>
              <a:rPr lang="en-US" sz="1100" noProof="0" dirty="0" err="1">
                <a:latin typeface="Segoe UI"/>
                <a:cs typeface="Segoe UI"/>
              </a:rPr>
              <a:t>en</a:t>
            </a:r>
            <a:r>
              <a:rPr lang="en-US" sz="1100" noProof="0" dirty="0">
                <a:latin typeface="Segoe UI"/>
                <a:cs typeface="Segoe UI"/>
              </a:rPr>
              <a:t> masse. </a:t>
            </a:r>
            <a:r>
              <a:rPr lang="en-US" sz="1100" noProof="0" dirty="0" err="1">
                <a:latin typeface="Segoe UI"/>
                <a:cs typeface="Segoe UI"/>
              </a:rPr>
              <a:t>C’est</a:t>
            </a:r>
            <a:r>
              <a:rPr lang="en-US" sz="1100" noProof="0" dirty="0">
                <a:latin typeface="Segoe UI"/>
                <a:cs typeface="Segoe UI"/>
              </a:rPr>
              <a:t>-à-dire plus de 180 batch existent.</a:t>
            </a:r>
            <a:br>
              <a:rPr lang="en-US" sz="1100" noProof="0" dirty="0">
                <a:latin typeface="Segoe UI" panose="020B0502040204020203" pitchFamily="34" charset="0"/>
              </a:rPr>
            </a:br>
            <a:br>
              <a:rPr lang="en-US" sz="1100" noProof="0" dirty="0">
                <a:latin typeface="Segoe UI" panose="020B0502040204020203" pitchFamily="34" charset="0"/>
              </a:rPr>
            </a:br>
            <a:r>
              <a:rPr lang="en-US" sz="1100" b="1" noProof="0" dirty="0">
                <a:latin typeface="Segoe UI"/>
                <a:cs typeface="Segoe UI"/>
              </a:rPr>
              <a:t>Metamodels </a:t>
            </a:r>
            <a:r>
              <a:rPr lang="en-US" sz="1100" noProof="0" dirty="0">
                <a:latin typeface="Segoe UI"/>
                <a:cs typeface="Segoe UI"/>
              </a:rPr>
              <a:t>: </a:t>
            </a:r>
            <a:r>
              <a:rPr lang="en-US" sz="1100" noProof="0" dirty="0" err="1">
                <a:latin typeface="Segoe UI"/>
                <a:cs typeface="Segoe UI"/>
              </a:rPr>
              <a:t>c’est</a:t>
            </a:r>
            <a:r>
              <a:rPr lang="en-US" sz="1100" noProof="0" dirty="0">
                <a:latin typeface="Segoe UI"/>
                <a:cs typeface="Segoe UI"/>
              </a:rPr>
              <a:t> le </a:t>
            </a:r>
            <a:r>
              <a:rPr lang="en-US" sz="1100" noProof="0" dirty="0" err="1">
                <a:latin typeface="Segoe UI"/>
                <a:cs typeface="Segoe UI"/>
              </a:rPr>
              <a:t>nombre</a:t>
            </a:r>
            <a:r>
              <a:rPr lang="en-US" sz="1100" noProof="0" dirty="0">
                <a:latin typeface="Segoe UI"/>
                <a:cs typeface="Segoe UI"/>
              </a:rPr>
              <a:t> de metamodels </a:t>
            </a:r>
            <a:r>
              <a:rPr lang="en-US" sz="1100" noProof="0" dirty="0" err="1">
                <a:latin typeface="Segoe UI"/>
                <a:cs typeface="Segoe UI"/>
              </a:rPr>
              <a:t>en</a:t>
            </a:r>
            <a:r>
              <a:rPr lang="en-US" sz="1100" noProof="0" dirty="0">
                <a:latin typeface="Segoe UI"/>
                <a:cs typeface="Segoe UI"/>
              </a:rPr>
              <a:t> RUN. A </a:t>
            </a:r>
            <a:r>
              <a:rPr lang="en-US" sz="1100" noProof="0" dirty="0" err="1">
                <a:latin typeface="Segoe UI"/>
                <a:cs typeface="Segoe UI"/>
              </a:rPr>
              <a:t>voir</a:t>
            </a:r>
            <a:r>
              <a:rPr lang="en-US" sz="1100" noProof="0" dirty="0">
                <a:latin typeface="Segoe UI"/>
                <a:cs typeface="Segoe UI"/>
              </a:rPr>
              <a:t> avec les DE sur </a:t>
            </a:r>
            <a:r>
              <a:rPr lang="en-US" sz="1100" noProof="0" dirty="0" err="1">
                <a:latin typeface="Segoe UI"/>
                <a:cs typeface="Segoe UI"/>
              </a:rPr>
              <a:t>quelles</a:t>
            </a:r>
            <a:r>
              <a:rPr lang="en-US" sz="1100" noProof="0" dirty="0">
                <a:latin typeface="Segoe UI"/>
                <a:cs typeface="Segoe UI"/>
              </a:rPr>
              <a:t> </a:t>
            </a:r>
            <a:r>
              <a:rPr lang="en-US" sz="1100" noProof="0" dirty="0" err="1">
                <a:latin typeface="Segoe UI"/>
                <a:cs typeface="Segoe UI"/>
              </a:rPr>
              <a:t>informations</a:t>
            </a:r>
            <a:r>
              <a:rPr lang="en-US" sz="1100" noProof="0" dirty="0">
                <a:latin typeface="Segoe UI"/>
                <a:cs typeface="Segoe UI"/>
              </a:rPr>
              <a:t> se baser. </a:t>
            </a:r>
            <a:r>
              <a:rPr lang="en-US" sz="1100" noProof="0" dirty="0" err="1">
                <a:highlight>
                  <a:srgbClr val="00FFFF"/>
                </a:highlight>
                <a:latin typeface="Segoe UI"/>
                <a:cs typeface="Segoe UI"/>
              </a:rPr>
              <a:t>Voir</a:t>
            </a:r>
            <a:r>
              <a:rPr lang="en-US" sz="1100" noProof="0" dirty="0">
                <a:highlight>
                  <a:srgbClr val="00FFFF"/>
                </a:highlight>
                <a:latin typeface="Segoe UI"/>
                <a:cs typeface="Segoe UI"/>
              </a:rPr>
              <a:t> avec les DE sur quelle donnée se baser (</a:t>
            </a:r>
            <a:r>
              <a:rPr lang="en-US" sz="1100" noProof="0" dirty="0" err="1">
                <a:highlight>
                  <a:srgbClr val="00FFFF"/>
                </a:highlight>
                <a:latin typeface="Segoe UI"/>
                <a:cs typeface="Segoe UI"/>
              </a:rPr>
              <a:t>exemple</a:t>
            </a:r>
            <a:r>
              <a:rPr lang="en-US" sz="1100" noProof="0" dirty="0">
                <a:highlight>
                  <a:srgbClr val="00FFFF"/>
                </a:highlight>
                <a:latin typeface="Segoe UI"/>
                <a:cs typeface="Segoe UI"/>
              </a:rPr>
              <a:t> ne pas </a:t>
            </a:r>
            <a:r>
              <a:rPr lang="en-US" sz="1100" noProof="0" dirty="0" err="1">
                <a:highlight>
                  <a:srgbClr val="00FFFF"/>
                </a:highlight>
                <a:latin typeface="Segoe UI"/>
                <a:cs typeface="Segoe UI"/>
              </a:rPr>
              <a:t>compter</a:t>
            </a:r>
            <a:r>
              <a:rPr lang="en-US" sz="1100" noProof="0" dirty="0">
                <a:highlight>
                  <a:srgbClr val="00FFFF"/>
                </a:highlight>
                <a:latin typeface="Segoe UI"/>
                <a:cs typeface="Segoe UI"/>
              </a:rPr>
              <a:t> Pithivier)</a:t>
            </a:r>
            <a:br>
              <a:rPr lang="en-US" sz="1100" noProof="0" dirty="0">
                <a:highlight>
                  <a:srgbClr val="00FFFF"/>
                </a:highlight>
                <a:latin typeface="Segoe UI" panose="020B0502040204020203" pitchFamily="34" charset="0"/>
              </a:rPr>
            </a:br>
            <a:br>
              <a:rPr lang="en-US" sz="1100" noProof="0" dirty="0">
                <a:latin typeface="Segoe UI" panose="020B0502040204020203" pitchFamily="34" charset="0"/>
              </a:rPr>
            </a:br>
            <a:r>
              <a:rPr lang="en-US" sz="1100" b="1" noProof="0" dirty="0">
                <a:latin typeface="Segoe UI"/>
                <a:cs typeface="Segoe UI"/>
              </a:rPr>
              <a:t>AI </a:t>
            </a:r>
            <a:r>
              <a:rPr lang="en-US" sz="1100" b="1" noProof="0" dirty="0" err="1">
                <a:latin typeface="Segoe UI"/>
                <a:cs typeface="Segoe UI"/>
              </a:rPr>
              <a:t>Recommandations</a:t>
            </a:r>
            <a:r>
              <a:rPr lang="en-US" sz="1100" b="1" noProof="0" dirty="0">
                <a:latin typeface="Segoe UI"/>
                <a:cs typeface="Segoe UI"/>
              </a:rPr>
              <a:t> :</a:t>
            </a:r>
            <a:br>
              <a:rPr lang="en-US" sz="1100" noProof="0" dirty="0">
                <a:latin typeface="Segoe UI" panose="020B0502040204020203" pitchFamily="34" charset="0"/>
              </a:rPr>
            </a:br>
            <a:r>
              <a:rPr lang="en-US" sz="1100" noProof="0" dirty="0">
                <a:latin typeface="Segoe UI"/>
                <a:cs typeface="Segoe UI"/>
              </a:rPr>
              <a:t>Ce </a:t>
            </a:r>
            <a:r>
              <a:rPr lang="en-US" sz="1100" noProof="0" dirty="0" err="1">
                <a:latin typeface="Segoe UI"/>
                <a:cs typeface="Segoe UI"/>
              </a:rPr>
              <a:t>sont</a:t>
            </a:r>
            <a:r>
              <a:rPr lang="en-US" sz="1100" noProof="0" dirty="0">
                <a:latin typeface="Segoe UI"/>
                <a:cs typeface="Segoe UI"/>
              </a:rPr>
              <a:t> les sites </a:t>
            </a:r>
            <a:r>
              <a:rPr lang="en-US" sz="1100" noProof="0" dirty="0" err="1">
                <a:latin typeface="Segoe UI"/>
                <a:cs typeface="Segoe UI"/>
              </a:rPr>
              <a:t>où</a:t>
            </a:r>
            <a:r>
              <a:rPr lang="en-US" sz="1100" noProof="0" dirty="0">
                <a:latin typeface="Segoe UI"/>
                <a:cs typeface="Segoe UI"/>
              </a:rPr>
              <a:t> la feature de </a:t>
            </a:r>
            <a:r>
              <a:rPr lang="en-US" sz="1100" noProof="0" dirty="0" err="1">
                <a:latin typeface="Segoe UI"/>
                <a:cs typeface="Segoe UI"/>
              </a:rPr>
              <a:t>recommandations</a:t>
            </a:r>
            <a:r>
              <a:rPr lang="en-US" sz="1100" noProof="0" dirty="0">
                <a:latin typeface="Segoe UI"/>
                <a:cs typeface="Segoe UI"/>
              </a:rPr>
              <a:t> IA </a:t>
            </a:r>
            <a:r>
              <a:rPr lang="en-US" sz="1100" noProof="0" dirty="0" err="1">
                <a:latin typeface="Segoe UI"/>
                <a:cs typeface="Segoe UI"/>
              </a:rPr>
              <a:t>tourne</a:t>
            </a:r>
            <a:r>
              <a:rPr lang="en-US" sz="1100" noProof="0" dirty="0">
                <a:latin typeface="Segoe UI"/>
                <a:cs typeface="Segoe UI"/>
              </a:rPr>
              <a:t> </a:t>
            </a:r>
            <a:r>
              <a:rPr lang="en-US" sz="1100" noProof="0" dirty="0" err="1">
                <a:latin typeface="Segoe UI"/>
                <a:cs typeface="Segoe UI"/>
              </a:rPr>
              <a:t>en</a:t>
            </a:r>
            <a:r>
              <a:rPr lang="en-US" sz="1100" noProof="0" dirty="0">
                <a:latin typeface="Segoe UI"/>
                <a:cs typeface="Segoe UI"/>
              </a:rPr>
              <a:t> PROD.  </a:t>
            </a:r>
            <a:r>
              <a:rPr lang="en-US" sz="1100" noProof="0" dirty="0">
                <a:highlight>
                  <a:srgbClr val="FFFF00"/>
                </a:highlight>
                <a:latin typeface="Segoe UI"/>
                <a:cs typeface="Segoe UI"/>
              </a:rPr>
              <a:t>à </a:t>
            </a:r>
            <a:r>
              <a:rPr lang="en-US" sz="1100" noProof="0" dirty="0" err="1">
                <a:highlight>
                  <a:srgbClr val="FFFF00"/>
                </a:highlight>
                <a:latin typeface="Segoe UI"/>
                <a:cs typeface="Segoe UI"/>
              </a:rPr>
              <a:t>voir</a:t>
            </a:r>
            <a:r>
              <a:rPr lang="en-US" sz="1100" noProof="0" dirty="0">
                <a:highlight>
                  <a:srgbClr val="FFFF00"/>
                </a:highlight>
                <a:latin typeface="Segoe UI"/>
                <a:cs typeface="Segoe UI"/>
              </a:rPr>
              <a:t> avec les DS.</a:t>
            </a:r>
          </a:p>
          <a:p>
            <a:pPr fontAlgn="t"/>
            <a:r>
              <a:rPr lang="en-US" sz="1100" noProof="0" dirty="0" err="1">
                <a:highlight>
                  <a:srgbClr val="FFFF00"/>
                </a:highlight>
                <a:latin typeface="Segoe UI"/>
                <a:cs typeface="Segoe UI"/>
              </a:rPr>
              <a:t>Dès</a:t>
            </a:r>
            <a:r>
              <a:rPr lang="en-US" sz="1100" noProof="0" dirty="0">
                <a:highlight>
                  <a:srgbClr val="FFFF00"/>
                </a:highlight>
                <a:latin typeface="Segoe UI"/>
                <a:cs typeface="Segoe UI"/>
              </a:rPr>
              <a:t> </a:t>
            </a:r>
            <a:r>
              <a:rPr lang="en-US" sz="1100" noProof="0" dirty="0" err="1">
                <a:highlight>
                  <a:srgbClr val="FFFF00"/>
                </a:highlight>
                <a:latin typeface="Segoe UI"/>
                <a:cs typeface="Segoe UI"/>
              </a:rPr>
              <a:t>qu’une</a:t>
            </a:r>
            <a:r>
              <a:rPr lang="en-US" sz="1100" noProof="0" dirty="0">
                <a:highlight>
                  <a:srgbClr val="FFFF00"/>
                </a:highlight>
                <a:latin typeface="Segoe UI"/>
                <a:cs typeface="Segoe UI"/>
              </a:rPr>
              <a:t> première </a:t>
            </a:r>
            <a:r>
              <a:rPr lang="en-US" sz="1100" noProof="0" dirty="0" err="1">
                <a:highlight>
                  <a:srgbClr val="FFFF00"/>
                </a:highlight>
                <a:latin typeface="Segoe UI"/>
                <a:cs typeface="Segoe UI"/>
              </a:rPr>
              <a:t>reco</a:t>
            </a:r>
            <a:r>
              <a:rPr lang="en-US" sz="1100" noProof="0" dirty="0">
                <a:highlight>
                  <a:srgbClr val="FFFF00"/>
                </a:highlight>
                <a:latin typeface="Segoe UI"/>
                <a:cs typeface="Segoe UI"/>
              </a:rPr>
              <a:t> IA </a:t>
            </a:r>
            <a:r>
              <a:rPr lang="en-US" sz="1100" noProof="0" dirty="0" err="1">
                <a:highlight>
                  <a:srgbClr val="FFFF00"/>
                </a:highlight>
                <a:latin typeface="Segoe UI"/>
                <a:cs typeface="Segoe UI"/>
              </a:rPr>
              <a:t>est</a:t>
            </a:r>
            <a:r>
              <a:rPr lang="en-US" sz="1100" noProof="0" dirty="0">
                <a:highlight>
                  <a:srgbClr val="FFFF00"/>
                </a:highlight>
                <a:latin typeface="Segoe UI"/>
                <a:cs typeface="Segoe UI"/>
              </a:rPr>
              <a:t> </a:t>
            </a:r>
            <a:r>
              <a:rPr lang="en-US" sz="1100" noProof="0" dirty="0" err="1">
                <a:highlight>
                  <a:srgbClr val="FFFF00"/>
                </a:highlight>
                <a:latin typeface="Segoe UI"/>
                <a:cs typeface="Segoe UI"/>
              </a:rPr>
              <a:t>générée</a:t>
            </a:r>
            <a:r>
              <a:rPr lang="en-US" sz="1100" noProof="0" dirty="0">
                <a:highlight>
                  <a:srgbClr val="FFFF00"/>
                </a:highlight>
                <a:latin typeface="Segoe UI"/>
                <a:cs typeface="Segoe UI"/>
              </a:rPr>
              <a:t> </a:t>
            </a:r>
            <a:r>
              <a:rPr lang="en-US" sz="1100" noProof="0" dirty="0" err="1">
                <a:highlight>
                  <a:srgbClr val="FFFF00"/>
                </a:highlight>
                <a:latin typeface="Segoe UI"/>
                <a:cs typeface="Segoe UI"/>
              </a:rPr>
              <a:t>en</a:t>
            </a:r>
            <a:r>
              <a:rPr lang="en-US" sz="1100" noProof="0" dirty="0">
                <a:highlight>
                  <a:srgbClr val="FFFF00"/>
                </a:highlight>
                <a:latin typeface="Segoe UI"/>
                <a:cs typeface="Segoe UI"/>
              </a:rPr>
              <a:t> PROD.</a:t>
            </a:r>
            <a:r>
              <a:rPr lang="en-US" sz="1100" dirty="0">
                <a:highlight>
                  <a:srgbClr val="FFFF00"/>
                </a:highlight>
                <a:latin typeface="Segoe UI"/>
                <a:cs typeface="Segoe UI"/>
              </a:rPr>
              <a:t> (Au minimum </a:t>
            </a:r>
            <a:r>
              <a:rPr lang="en-US" sz="1100" dirty="0" err="1">
                <a:highlight>
                  <a:srgbClr val="FFFF00"/>
                </a:highlight>
                <a:latin typeface="Segoe UI"/>
                <a:cs typeface="Segoe UI"/>
              </a:rPr>
              <a:t>une</a:t>
            </a:r>
            <a:r>
              <a:rPr lang="en-US" sz="1100" dirty="0">
                <a:highlight>
                  <a:srgbClr val="FFFF00"/>
                </a:highlight>
                <a:latin typeface="Segoe UI"/>
                <a:cs typeface="Segoe UI"/>
              </a:rPr>
              <a:t> </a:t>
            </a:r>
            <a:r>
              <a:rPr lang="en-US" sz="1100" dirty="0" err="1">
                <a:highlight>
                  <a:srgbClr val="FFFF00"/>
                </a:highlight>
                <a:latin typeface="Segoe UI"/>
                <a:cs typeface="Segoe UI"/>
              </a:rPr>
              <a:t>reco</a:t>
            </a:r>
            <a:r>
              <a:rPr lang="en-US" sz="1100" dirty="0">
                <a:highlight>
                  <a:srgbClr val="FFFF00"/>
                </a:highlight>
                <a:latin typeface="Segoe UI"/>
                <a:cs typeface="Segoe UI"/>
              </a:rPr>
              <a:t> </a:t>
            </a:r>
            <a:r>
              <a:rPr lang="en-US" sz="1100" dirty="0" err="1">
                <a:highlight>
                  <a:srgbClr val="FFFF00"/>
                </a:highlight>
                <a:latin typeface="Segoe UI"/>
                <a:cs typeface="Segoe UI"/>
              </a:rPr>
              <a:t>en</a:t>
            </a:r>
            <a:r>
              <a:rPr lang="en-US" sz="1100" dirty="0">
                <a:highlight>
                  <a:srgbClr val="FFFF00"/>
                </a:highlight>
                <a:latin typeface="Segoe UI"/>
                <a:cs typeface="Segoe UI"/>
              </a:rPr>
              <a:t> PROD)</a:t>
            </a:r>
            <a:endParaRPr lang="en-US" sz="1100" noProof="0" dirty="0">
              <a:highlight>
                <a:srgbClr val="FFFF00"/>
              </a:highlight>
              <a:latin typeface="Segoe UI"/>
              <a:cs typeface="Segoe UI"/>
            </a:endParaRPr>
          </a:p>
          <a:p>
            <a:r>
              <a:rPr lang="en-US" sz="1100" dirty="0">
                <a:highlight>
                  <a:srgbClr val="FFFF00"/>
                </a:highlight>
                <a:latin typeface="Segoe UI"/>
                <a:cs typeface="Segoe UI"/>
              </a:rPr>
              <a:t>Attention au </a:t>
            </a:r>
            <a:r>
              <a:rPr lang="en-US" sz="1100" dirty="0" err="1">
                <a:highlight>
                  <a:srgbClr val="FFFF00"/>
                </a:highlight>
                <a:latin typeface="Segoe UI"/>
                <a:cs typeface="Segoe UI"/>
              </a:rPr>
              <a:t>cas</a:t>
            </a:r>
            <a:r>
              <a:rPr lang="en-US" sz="1100" dirty="0">
                <a:highlight>
                  <a:srgbClr val="FFFF00"/>
                </a:highlight>
                <a:latin typeface="Segoe UI"/>
                <a:cs typeface="Segoe UI"/>
              </a:rPr>
              <a:t> </a:t>
            </a:r>
            <a:r>
              <a:rPr lang="en-US" sz="1100" dirty="0" err="1">
                <a:highlight>
                  <a:srgbClr val="FFFF00"/>
                </a:highlight>
                <a:latin typeface="Segoe UI"/>
                <a:cs typeface="Segoe UI"/>
              </a:rPr>
              <a:t>particuliers</a:t>
            </a:r>
            <a:r>
              <a:rPr lang="en-US" sz="1100" dirty="0">
                <a:highlight>
                  <a:srgbClr val="FFFF00"/>
                </a:highlight>
                <a:latin typeface="Segoe UI"/>
                <a:cs typeface="Segoe UI"/>
              </a:rPr>
              <a:t> des </a:t>
            </a:r>
            <a:r>
              <a:rPr lang="en-US" sz="1100" dirty="0" err="1">
                <a:highlight>
                  <a:srgbClr val="FFFF00"/>
                </a:highlight>
                <a:latin typeface="Segoe UI"/>
                <a:cs typeface="Segoe UI"/>
              </a:rPr>
              <a:t>anciens</a:t>
            </a:r>
            <a:r>
              <a:rPr lang="en-US" sz="1100" dirty="0">
                <a:highlight>
                  <a:srgbClr val="FFFF00"/>
                </a:highlight>
                <a:latin typeface="Segoe UI"/>
                <a:cs typeface="Segoe UI"/>
              </a:rPr>
              <a:t> sites </a:t>
            </a:r>
            <a:r>
              <a:rPr lang="en-US" sz="1100" dirty="0">
                <a:highlight>
                  <a:srgbClr val="00FFFF"/>
                </a:highlight>
                <a:latin typeface="Segoe UI"/>
                <a:cs typeface="Segoe UI"/>
              </a:rPr>
              <a:t>Pithivier (</a:t>
            </a:r>
            <a:r>
              <a:rPr lang="en-US" sz="1100" dirty="0" err="1">
                <a:highlight>
                  <a:srgbClr val="00FFFF"/>
                </a:highlight>
                <a:latin typeface="Segoe UI"/>
                <a:cs typeface="Segoe UI"/>
              </a:rPr>
              <a:t>Peut</a:t>
            </a:r>
            <a:r>
              <a:rPr lang="en-US" sz="1100" dirty="0">
                <a:highlight>
                  <a:srgbClr val="00FFFF"/>
                </a:highlight>
                <a:latin typeface="Segoe UI"/>
                <a:cs typeface="Segoe UI"/>
              </a:rPr>
              <a:t> </a:t>
            </a:r>
            <a:r>
              <a:rPr lang="en-US" sz="1100" dirty="0" err="1">
                <a:highlight>
                  <a:srgbClr val="00FFFF"/>
                </a:highlight>
                <a:latin typeface="Segoe UI"/>
                <a:cs typeface="Segoe UI"/>
              </a:rPr>
              <a:t>etre</a:t>
            </a:r>
            <a:r>
              <a:rPr lang="en-US" sz="1100" dirty="0">
                <a:highlight>
                  <a:srgbClr val="00FFFF"/>
                </a:highlight>
                <a:latin typeface="Segoe UI"/>
                <a:cs typeface="Segoe UI"/>
              </a:rPr>
              <a:t> </a:t>
            </a:r>
            <a:r>
              <a:rPr lang="en-US" sz="1100" dirty="0" err="1">
                <a:highlight>
                  <a:srgbClr val="00FFFF"/>
                </a:highlight>
                <a:latin typeface="Segoe UI"/>
                <a:cs typeface="Segoe UI"/>
              </a:rPr>
              <a:t>mettre</a:t>
            </a:r>
            <a:r>
              <a:rPr lang="en-US" sz="1100" dirty="0">
                <a:highlight>
                  <a:srgbClr val="00FFFF"/>
                </a:highlight>
                <a:latin typeface="Segoe UI"/>
                <a:cs typeface="Segoe UI"/>
              </a:rPr>
              <a:t> </a:t>
            </a:r>
            <a:r>
              <a:rPr lang="en-US" sz="1100" dirty="0" err="1">
                <a:highlight>
                  <a:srgbClr val="00FFFF"/>
                </a:highlight>
                <a:latin typeface="Segoe UI"/>
                <a:cs typeface="Segoe UI"/>
              </a:rPr>
              <a:t>une</a:t>
            </a:r>
            <a:r>
              <a:rPr lang="en-US" sz="1100" dirty="0">
                <a:highlight>
                  <a:srgbClr val="00FFFF"/>
                </a:highlight>
                <a:latin typeface="Segoe UI"/>
                <a:cs typeface="Segoe UI"/>
              </a:rPr>
              <a:t> date ? )</a:t>
            </a:r>
            <a:endParaRPr lang="en-US" sz="1100" noProof="0" dirty="0">
              <a:highlight>
                <a:srgbClr val="FFFF00"/>
              </a:highlight>
              <a:latin typeface="Segoe UI" panose="020B0502040204020203" pitchFamily="34" charset="0"/>
              <a:cs typeface="Segoe UI"/>
            </a:endParaRPr>
          </a:p>
          <a:p>
            <a:pPr fontAlgn="t"/>
            <a:endParaRPr lang="en-US" sz="110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noProof="0" dirty="0">
                <a:latin typeface="Segoe UI"/>
                <a:cs typeface="Segoe UI"/>
              </a:rPr>
              <a:t>Time Tracking et Production Notes : </a:t>
            </a:r>
            <a:r>
              <a:rPr lang="en-US" sz="1100" noProof="0" dirty="0">
                <a:latin typeface="Segoe UI"/>
                <a:cs typeface="Segoe UI"/>
              </a:rPr>
              <a:t>il faut à la </a:t>
            </a:r>
            <a:r>
              <a:rPr lang="en-US" sz="1100" noProof="0" dirty="0" err="1">
                <a:latin typeface="Segoe UI"/>
                <a:cs typeface="Segoe UI"/>
              </a:rPr>
              <a:t>fois</a:t>
            </a:r>
            <a:r>
              <a:rPr lang="en-US" sz="1100" noProof="0" dirty="0">
                <a:latin typeface="Segoe UI"/>
                <a:cs typeface="Segoe UI"/>
              </a:rPr>
              <a:t> </a:t>
            </a:r>
            <a:r>
              <a:rPr lang="en-US" sz="1100" noProof="0" dirty="0" err="1">
                <a:latin typeface="Segoe UI"/>
                <a:cs typeface="Segoe UI"/>
              </a:rPr>
              <a:t>qu’une</a:t>
            </a:r>
            <a:r>
              <a:rPr lang="en-US" sz="1100" noProof="0" dirty="0">
                <a:latin typeface="Segoe UI"/>
                <a:cs typeface="Segoe UI"/>
              </a:rPr>
              <a:t> configuration note de Production </a:t>
            </a:r>
            <a:r>
              <a:rPr lang="en-US" sz="1100" noProof="0" dirty="0" err="1">
                <a:latin typeface="Segoe UI"/>
                <a:cs typeface="Segoe UI"/>
              </a:rPr>
              <a:t>soit</a:t>
            </a:r>
            <a:r>
              <a:rPr lang="en-US" sz="1100" noProof="0" dirty="0">
                <a:latin typeface="Segoe UI"/>
                <a:cs typeface="Segoe UI"/>
              </a:rPr>
              <a:t> </a:t>
            </a:r>
            <a:r>
              <a:rPr lang="en-US" sz="1100" noProof="0" dirty="0" err="1">
                <a:latin typeface="Segoe UI"/>
                <a:cs typeface="Segoe UI"/>
              </a:rPr>
              <a:t>déployée</a:t>
            </a:r>
            <a:r>
              <a:rPr lang="en-US" sz="1100" noProof="0" dirty="0">
                <a:latin typeface="Segoe UI"/>
                <a:cs typeface="Segoe UI"/>
              </a:rPr>
              <a:t> et </a:t>
            </a:r>
            <a:r>
              <a:rPr lang="en-US" sz="1100" noProof="0" dirty="0" err="1">
                <a:latin typeface="Segoe UI"/>
                <a:cs typeface="Segoe UI"/>
              </a:rPr>
              <a:t>qu’une</a:t>
            </a:r>
            <a:r>
              <a:rPr lang="en-US" sz="1100" noProof="0" dirty="0">
                <a:latin typeface="Segoe UI"/>
                <a:cs typeface="Segoe UI"/>
              </a:rPr>
              <a:t> config TRS </a:t>
            </a:r>
            <a:r>
              <a:rPr lang="en-US" sz="1100" noProof="0" dirty="0" err="1">
                <a:latin typeface="Segoe UI"/>
                <a:cs typeface="Segoe UI"/>
              </a:rPr>
              <a:t>soit</a:t>
            </a:r>
            <a:r>
              <a:rPr lang="en-US" sz="1100" noProof="0" dirty="0">
                <a:latin typeface="Segoe UI"/>
                <a:cs typeface="Segoe UI"/>
              </a:rPr>
              <a:t> </a:t>
            </a:r>
            <a:r>
              <a:rPr lang="en-US" sz="1100" noProof="0" dirty="0" err="1">
                <a:latin typeface="Segoe UI"/>
                <a:cs typeface="Segoe UI"/>
              </a:rPr>
              <a:t>déployée</a:t>
            </a:r>
            <a:r>
              <a:rPr lang="en-US" sz="1100" noProof="0" dirty="0">
                <a:latin typeface="Segoe UI"/>
                <a:cs typeface="Segoe UI"/>
              </a:rPr>
              <a:t>.</a:t>
            </a: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u="sng" noProof="0" dirty="0" err="1">
                <a:latin typeface="Segoe UI"/>
                <a:cs typeface="Segoe UI"/>
              </a:rPr>
              <a:t>Règle</a:t>
            </a:r>
            <a:r>
              <a:rPr lang="en-US" sz="1100" b="1" u="sng" noProof="0" dirty="0">
                <a:latin typeface="Segoe UI"/>
                <a:cs typeface="Segoe UI"/>
              </a:rPr>
              <a:t> de gestion : </a:t>
            </a:r>
          </a:p>
          <a:p>
            <a:pPr fontAlgn="t">
              <a:buNone/>
            </a:pPr>
            <a:r>
              <a:rPr lang="en-US" sz="1100" b="1" noProof="0" dirty="0" err="1">
                <a:latin typeface="Segoe UI"/>
                <a:cs typeface="Segoe UI"/>
              </a:rPr>
              <a:t>Besoin</a:t>
            </a:r>
            <a:r>
              <a:rPr lang="en-US" sz="1100" b="1" noProof="0" dirty="0">
                <a:latin typeface="Segoe UI"/>
                <a:cs typeface="Segoe UI"/>
              </a:rPr>
              <a:t> </a:t>
            </a:r>
            <a:r>
              <a:rPr lang="en-US" sz="1100" b="1" noProof="0" dirty="0" err="1">
                <a:latin typeface="Segoe UI"/>
                <a:cs typeface="Segoe UI"/>
              </a:rPr>
              <a:t>d’aller</a:t>
            </a:r>
            <a:r>
              <a:rPr lang="en-US" sz="1100" b="1" noProof="0" dirty="0">
                <a:latin typeface="Segoe UI"/>
                <a:cs typeface="Segoe UI"/>
              </a:rPr>
              <a:t> </a:t>
            </a:r>
            <a:r>
              <a:rPr lang="en-US" sz="1100" b="1" noProof="0" dirty="0" err="1">
                <a:latin typeface="Segoe UI"/>
                <a:cs typeface="Segoe UI"/>
              </a:rPr>
              <a:t>chercher</a:t>
            </a:r>
            <a:r>
              <a:rPr lang="en-US" sz="1100" b="1" noProof="0" dirty="0">
                <a:latin typeface="Segoe UI"/>
                <a:cs typeface="Segoe UI"/>
              </a:rPr>
              <a:t> les </a:t>
            </a:r>
            <a:r>
              <a:rPr lang="en-US" sz="1100" b="1" noProof="0" dirty="0" err="1">
                <a:latin typeface="Segoe UI"/>
                <a:cs typeface="Segoe UI"/>
              </a:rPr>
              <a:t>infos</a:t>
            </a:r>
            <a:r>
              <a:rPr lang="en-US" sz="1100" b="1" noProof="0" dirty="0">
                <a:latin typeface="Segoe UI"/>
                <a:cs typeface="Segoe UI"/>
              </a:rPr>
              <a:t> à la </a:t>
            </a:r>
            <a:r>
              <a:rPr lang="en-US" sz="1100" b="1" noProof="0" dirty="0">
                <a:highlight>
                  <a:srgbClr val="FFFF00"/>
                </a:highlight>
                <a:latin typeface="Segoe UI"/>
                <a:cs typeface="Segoe UI"/>
              </a:rPr>
              <a:t>date du jour.</a:t>
            </a: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39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73C79-3399-0B3B-D2BF-29149C8C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ZoneTexte 17">
            <a:extLst>
              <a:ext uri="{FF2B5EF4-FFF2-40B4-BE49-F238E27FC236}">
                <a16:creationId xmlns:a16="http://schemas.microsoft.com/office/drawing/2014/main" id="{A8701C6E-78BA-D1F6-5D72-87B87F1A4C46}"/>
              </a:ext>
            </a:extLst>
          </p:cNvPr>
          <p:cNvSpPr txBox="1"/>
          <p:nvPr/>
        </p:nvSpPr>
        <p:spPr>
          <a:xfrm>
            <a:off x="176848" y="782711"/>
            <a:ext cx="659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/>
              <a:t>2. </a:t>
            </a:r>
            <a:r>
              <a:rPr lang="en-US" sz="2000" b="1" noProof="0" err="1"/>
              <a:t>Détails</a:t>
            </a:r>
            <a:r>
              <a:rPr lang="en-US" sz="2000" b="1" noProof="0"/>
              <a:t> : User Activity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AABEC559-5B30-4218-1302-219DDAB5AEAB}"/>
              </a:ext>
            </a:extLst>
          </p:cNvPr>
          <p:cNvSpPr txBox="1"/>
          <p:nvPr/>
        </p:nvSpPr>
        <p:spPr>
          <a:xfrm>
            <a:off x="455174" y="2554915"/>
            <a:ext cx="6132187" cy="43242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t">
              <a:buNone/>
            </a:pPr>
            <a:r>
              <a:rPr lang="en-US" sz="1100" b="1" i="1" noProof="0">
                <a:latin typeface="Segoe UI" panose="020B0502040204020203" pitchFamily="34" charset="0"/>
              </a:rPr>
              <a:t>Ci-dessus les données </a:t>
            </a:r>
            <a:r>
              <a:rPr lang="en-US" sz="1100" b="1" i="1" noProof="0" err="1">
                <a:latin typeface="Segoe UI" panose="020B0502040204020203" pitchFamily="34" charset="0"/>
              </a:rPr>
              <a:t>souhaitées</a:t>
            </a:r>
            <a:r>
              <a:rPr lang="en-US" sz="1100" b="1" i="1" noProof="0">
                <a:latin typeface="Segoe UI" panose="020B0502040204020203" pitchFamily="34" charset="0"/>
              </a:rPr>
              <a:t> indispensables.</a:t>
            </a:r>
          </a:p>
          <a:p>
            <a:pPr fontAlgn="t">
              <a:buNone/>
            </a:pPr>
            <a:endParaRPr lang="en-US" sz="1100" b="1" i="1" noProof="0">
              <a:latin typeface="Segoe UI" panose="020B0502040204020203" pitchFamily="34" charset="0"/>
            </a:endParaRPr>
          </a:p>
          <a:p>
            <a:pPr fontAlgn="t">
              <a:buNone/>
            </a:pPr>
            <a:endParaRPr lang="en-US" sz="1100" b="1" i="1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u="sng" noProof="0" err="1">
                <a:latin typeface="Segoe UI" panose="020B0502040204020203" pitchFamily="34" charset="0"/>
              </a:rPr>
              <a:t>Précisions</a:t>
            </a:r>
            <a:r>
              <a:rPr lang="en-US" sz="1100" b="1" u="sng" noProof="0">
                <a:latin typeface="Segoe UI" panose="020B0502040204020203" pitchFamily="34" charset="0"/>
              </a:rPr>
              <a:t> sur </a:t>
            </a:r>
            <a:r>
              <a:rPr lang="en-US" sz="1100" b="1" u="sng" noProof="0" err="1">
                <a:latin typeface="Segoe UI" panose="020B0502040204020203" pitchFamily="34" charset="0"/>
              </a:rPr>
              <a:t>chaque</a:t>
            </a:r>
            <a:r>
              <a:rPr lang="en-US" sz="1100" b="1" u="sng" noProof="0">
                <a:latin typeface="Segoe UI" panose="020B0502040204020203" pitchFamily="34" charset="0"/>
              </a:rPr>
              <a:t> data :</a:t>
            </a: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/>
            <a:r>
              <a:rPr lang="en-US" sz="1100" b="1" noProof="0">
                <a:latin typeface="Segoe UI" panose="020B0502040204020203" pitchFamily="34" charset="0"/>
              </a:rPr>
              <a:t>Maltimize unique users : </a:t>
            </a:r>
            <a:r>
              <a:rPr lang="en-US" sz="1100" noProof="0" err="1">
                <a:latin typeface="Segoe UI" panose="020B0502040204020203" pitchFamily="34" charset="0"/>
              </a:rPr>
              <a:t>c’est</a:t>
            </a:r>
            <a:r>
              <a:rPr lang="en-US" sz="1100" noProof="0">
                <a:latin typeface="Segoe UI" panose="020B0502040204020203" pitchFamily="34" charset="0"/>
              </a:rPr>
              <a:t> le </a:t>
            </a:r>
            <a:r>
              <a:rPr lang="en-US" sz="1100" noProof="0" err="1">
                <a:latin typeface="Segoe UI" panose="020B0502040204020203" pitchFamily="34" charset="0"/>
              </a:rPr>
              <a:t>nombre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d’utilisateur</a:t>
            </a:r>
            <a:r>
              <a:rPr lang="en-US" sz="1100" noProof="0">
                <a:latin typeface="Segoe UI" panose="020B0502040204020203" pitchFamily="34" charset="0"/>
              </a:rPr>
              <a:t> unique de </a:t>
            </a:r>
            <a:r>
              <a:rPr lang="en-US" sz="1100" noProof="0" err="1">
                <a:latin typeface="Segoe UI" panose="020B0502040204020203" pitchFamily="34" charset="0"/>
              </a:rPr>
              <a:t>l’application</a:t>
            </a:r>
            <a:r>
              <a:rPr lang="en-US" sz="1100" noProof="0">
                <a:latin typeface="Segoe UI" panose="020B0502040204020203" pitchFamily="34" charset="0"/>
              </a:rPr>
              <a:t> Maltimize sur les 30 </a:t>
            </a:r>
            <a:r>
              <a:rPr lang="en-US" sz="1100" noProof="0" err="1">
                <a:latin typeface="Segoe UI" panose="020B0502040204020203" pitchFamily="34" charset="0"/>
              </a:rPr>
              <a:t>derniers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jours</a:t>
            </a:r>
            <a:r>
              <a:rPr lang="en-US" sz="1100" noProof="0">
                <a:latin typeface="Segoe UI" panose="020B0502040204020203" pitchFamily="34" charset="0"/>
              </a:rPr>
              <a:t>. 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</a:rPr>
              <a:t>Info </a:t>
            </a:r>
            <a:r>
              <a:rPr lang="en-US" sz="1100" noProof="0" err="1">
                <a:highlight>
                  <a:srgbClr val="FFFF00"/>
                </a:highlight>
                <a:latin typeface="Segoe UI" panose="020B0502040204020203" pitchFamily="34" charset="0"/>
              </a:rPr>
              <a:t>actuellement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</a:rPr>
              <a:t> disponible sur Auth0 </a:t>
            </a:r>
            <a:r>
              <a:rPr lang="en-US" sz="1100" noProof="0" err="1">
                <a:highlight>
                  <a:srgbClr val="FFFF00"/>
                </a:highlight>
                <a:latin typeface="Segoe UI" panose="020B0502040204020203" pitchFamily="34" charset="0"/>
              </a:rPr>
              <a:t>mais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</a:rPr>
              <a:t> pas mise à disposition </a:t>
            </a:r>
            <a:r>
              <a:rPr lang="en-US" sz="1100" noProof="0" err="1">
                <a:highlight>
                  <a:srgbClr val="FFFF00"/>
                </a:highlight>
                <a:latin typeface="Segoe UI" panose="020B0502040204020203" pitchFamily="34" charset="0"/>
              </a:rPr>
              <a:t>ailleurs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</a:rPr>
              <a:t>.</a:t>
            </a:r>
          </a:p>
          <a:p>
            <a:pPr fontAlgn="t"/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</a:rPr>
              <a:t>Cout d’un flux </a:t>
            </a:r>
            <a:r>
              <a:rPr lang="en-US" sz="1100" noProof="0" err="1">
                <a:highlight>
                  <a:srgbClr val="FFFF00"/>
                </a:highlight>
                <a:latin typeface="Segoe UI" panose="020B0502040204020203" pitchFamily="34" charset="0"/>
              </a:rPr>
              <a:t>ou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</a:rPr>
              <a:t> mise à disposition dans </a:t>
            </a:r>
            <a:r>
              <a:rPr lang="en-US" sz="1100" noProof="0" err="1">
                <a:highlight>
                  <a:srgbClr val="FFFF00"/>
                </a:highlight>
                <a:latin typeface="Segoe UI" panose="020B0502040204020203" pitchFamily="34" charset="0"/>
              </a:rPr>
              <a:t>une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</a:rPr>
              <a:t> table ?</a:t>
            </a:r>
            <a:b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</a:rPr>
            </a:br>
            <a:br>
              <a:rPr lang="en-US" sz="1100" noProof="0">
                <a:latin typeface="Segoe UI" panose="020B0502040204020203" pitchFamily="34" charset="0"/>
              </a:rPr>
            </a:br>
            <a:r>
              <a:rPr lang="en-US" sz="1100" b="1" noProof="0">
                <a:latin typeface="Segoe UI" panose="020B0502040204020203" pitchFamily="34" charset="0"/>
              </a:rPr>
              <a:t>Dashboards PowerBI unique users :</a:t>
            </a:r>
            <a:br>
              <a:rPr lang="en-US" sz="1100" noProof="0">
                <a:latin typeface="Segoe UI" panose="020B0502040204020203" pitchFamily="34" charset="0"/>
              </a:rPr>
            </a:br>
            <a:r>
              <a:rPr lang="en-US" sz="1100" noProof="0" err="1">
                <a:latin typeface="Segoe UI" panose="020B0502040204020203" pitchFamily="34" charset="0"/>
              </a:rPr>
              <a:t>c’est</a:t>
            </a:r>
            <a:r>
              <a:rPr lang="en-US" sz="1100" noProof="0">
                <a:latin typeface="Segoe UI" panose="020B0502040204020203" pitchFamily="34" charset="0"/>
              </a:rPr>
              <a:t> le </a:t>
            </a:r>
            <a:r>
              <a:rPr lang="en-US" sz="1100" noProof="0" err="1">
                <a:latin typeface="Segoe UI" panose="020B0502040204020203" pitchFamily="34" charset="0"/>
              </a:rPr>
              <a:t>nombre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d’utilisateur</a:t>
            </a:r>
            <a:r>
              <a:rPr lang="en-US" sz="1100" noProof="0">
                <a:latin typeface="Segoe UI" panose="020B0502040204020203" pitchFamily="34" charset="0"/>
              </a:rPr>
              <a:t> unique des dashboards PBI </a:t>
            </a:r>
            <a:r>
              <a:rPr lang="en-US" sz="1100" noProof="0" err="1">
                <a:latin typeface="Segoe UI" panose="020B0502040204020203" pitchFamily="34" charset="0"/>
              </a:rPr>
              <a:t>qu’ils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soient</a:t>
            </a:r>
            <a:r>
              <a:rPr lang="en-US" sz="1100" noProof="0">
                <a:latin typeface="Segoe UI" panose="020B0502040204020203" pitchFamily="34" charset="0"/>
              </a:rPr>
              <a:t> embedded dans Maltimize </a:t>
            </a:r>
            <a:r>
              <a:rPr lang="en-US" sz="1100" noProof="0" err="1">
                <a:latin typeface="Segoe UI" panose="020B0502040204020203" pitchFamily="34" charset="0"/>
              </a:rPr>
              <a:t>ou</a:t>
            </a:r>
            <a:r>
              <a:rPr lang="en-US" sz="1100" noProof="0">
                <a:latin typeface="Segoe UI" panose="020B0502040204020203" pitchFamily="34" charset="0"/>
              </a:rPr>
              <a:t> non. Info disponible dans PBI. </a:t>
            </a:r>
            <a:br>
              <a:rPr lang="en-US" sz="1100" noProof="0">
                <a:latin typeface="Segoe UI" panose="020B0502040204020203" pitchFamily="34" charset="0"/>
              </a:rPr>
            </a:br>
            <a:r>
              <a:rPr lang="en-US" sz="1100" noProof="0">
                <a:latin typeface="Segoe UI" panose="020B0502040204020203" pitchFamily="34" charset="0"/>
                <a:hlinkClick r:id="rId3"/>
              </a:rPr>
              <a:t>https://app.powerbi.com/groups/60fc670a-099e-42ff-b885-84c7bf979d31/reports/8a1fe011-cfc2-42ba-9596-31aff9660822/ReportSection1af73846c7c4eb5461ab?experience=power-bi</a:t>
            </a:r>
            <a:endParaRPr lang="en-US" sz="1100" noProof="0">
              <a:latin typeface="Segoe UI" panose="020B0502040204020203" pitchFamily="34" charset="0"/>
            </a:endParaRPr>
          </a:p>
          <a:p>
            <a:pPr fontAlgn="t"/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noProof="0" err="1">
                <a:latin typeface="Segoe UI" panose="020B0502040204020203" pitchFamily="34" charset="0"/>
              </a:rPr>
              <a:t>Avoir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également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l’information</a:t>
            </a:r>
            <a:r>
              <a:rPr lang="en-US" sz="1100" noProof="0">
                <a:latin typeface="Segoe UI" panose="020B0502040204020203" pitchFamily="34" charset="0"/>
              </a:rPr>
              <a:t> la proportion de consultation via </a:t>
            </a:r>
            <a:r>
              <a:rPr lang="en-US" sz="1100" noProof="0" err="1">
                <a:latin typeface="Segoe UI" panose="020B0502040204020203" pitchFamily="34" charset="0"/>
              </a:rPr>
              <a:t>powerBI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en</a:t>
            </a:r>
            <a:r>
              <a:rPr lang="en-US" sz="1100" noProof="0">
                <a:latin typeface="Segoe UI" panose="020B0502040204020203" pitchFamily="34" charset="0"/>
              </a:rPr>
              <a:t> direct </a:t>
            </a:r>
            <a:r>
              <a:rPr lang="en-US" sz="1100" noProof="0" err="1">
                <a:latin typeface="Segoe UI" panose="020B0502040204020203" pitchFamily="34" charset="0"/>
              </a:rPr>
              <a:t>ou</a:t>
            </a:r>
            <a:r>
              <a:rPr lang="en-US" sz="1100" noProof="0">
                <a:latin typeface="Segoe UI" panose="020B0502040204020203" pitchFamily="34" charset="0"/>
              </a:rPr>
              <a:t> via les dashboards </a:t>
            </a:r>
            <a:r>
              <a:rPr lang="en-US" sz="1100" noProof="0" err="1">
                <a:latin typeface="Segoe UI" panose="020B0502040204020203" pitchFamily="34" charset="0"/>
              </a:rPr>
              <a:t>embarqués</a:t>
            </a:r>
            <a:r>
              <a:rPr lang="en-US" sz="1100" noProof="0">
                <a:latin typeface="Segoe UI" panose="020B0502040204020203" pitchFamily="34" charset="0"/>
              </a:rPr>
              <a:t> de Maltimize.</a:t>
            </a: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u="sng" noProof="0" err="1">
                <a:latin typeface="Segoe UI" panose="020B0502040204020203" pitchFamily="34" charset="0"/>
              </a:rPr>
              <a:t>Règle</a:t>
            </a:r>
            <a:r>
              <a:rPr lang="en-US" sz="1100" b="1" u="sng" noProof="0">
                <a:latin typeface="Segoe UI" panose="020B0502040204020203" pitchFamily="34" charset="0"/>
              </a:rPr>
              <a:t> de gestion : </a:t>
            </a:r>
          </a:p>
          <a:p>
            <a:pPr marL="171450" indent="-171450" fontAlgn="t">
              <a:buFontTx/>
              <a:buChar char="-"/>
            </a:pPr>
            <a:r>
              <a:rPr lang="en-US" sz="1100" noProof="0" err="1">
                <a:latin typeface="Segoe UI" panose="020B0502040204020203" pitchFamily="34" charset="0"/>
              </a:rPr>
              <a:t>Besoin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d’aller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chercher</a:t>
            </a:r>
            <a:r>
              <a:rPr lang="en-US" sz="1100" noProof="0">
                <a:latin typeface="Segoe UI" panose="020B0502040204020203" pitchFamily="34" charset="0"/>
              </a:rPr>
              <a:t> les </a:t>
            </a:r>
            <a:r>
              <a:rPr lang="en-US" sz="1100" noProof="0" err="1">
                <a:latin typeface="Segoe UI" panose="020B0502040204020203" pitchFamily="34" charset="0"/>
              </a:rPr>
              <a:t>infos</a:t>
            </a:r>
            <a:r>
              <a:rPr lang="en-US" sz="1100" noProof="0">
                <a:latin typeface="Segoe UI" panose="020B0502040204020203" pitchFamily="34" charset="0"/>
              </a:rPr>
              <a:t> des 30 </a:t>
            </a:r>
            <a:r>
              <a:rPr lang="en-US" sz="1100" noProof="0" err="1">
                <a:latin typeface="Segoe UI" panose="020B0502040204020203" pitchFamily="34" charset="0"/>
              </a:rPr>
              <a:t>derniers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jours</a:t>
            </a:r>
            <a:r>
              <a:rPr lang="en-US" sz="1100" noProof="0">
                <a:latin typeface="Segoe UI" panose="020B0502040204020203" pitchFamily="34" charset="0"/>
              </a:rPr>
              <a:t> (m-1) &gt; </a:t>
            </a:r>
            <a:r>
              <a:rPr lang="en-US" sz="1100" noProof="0" err="1">
                <a:latin typeface="Segoe UI" panose="020B0502040204020203" pitchFamily="34" charset="0"/>
              </a:rPr>
              <a:t>demande</a:t>
            </a:r>
            <a:r>
              <a:rPr lang="en-US" sz="1100" noProof="0">
                <a:latin typeface="Segoe UI" panose="020B0502040204020203" pitchFamily="34" charset="0"/>
              </a:rPr>
              <a:t> MS</a:t>
            </a:r>
          </a:p>
          <a:p>
            <a:pPr marL="171450" indent="-171450" fontAlgn="t">
              <a:buFontTx/>
              <a:buChar char="-"/>
            </a:pPr>
            <a:r>
              <a:rPr lang="en-US" sz="1100" noProof="0" err="1">
                <a:latin typeface="Segoe UI" panose="020B0502040204020203" pitchFamily="34" charset="0"/>
              </a:rPr>
              <a:t>Mettre</a:t>
            </a:r>
            <a:r>
              <a:rPr lang="en-US" sz="1100" noProof="0">
                <a:latin typeface="Segoe UI" panose="020B0502040204020203" pitchFamily="34" charset="0"/>
              </a:rPr>
              <a:t> les tendances (trend) des 30 </a:t>
            </a:r>
            <a:r>
              <a:rPr lang="en-US" sz="1100" noProof="0" err="1">
                <a:latin typeface="Segoe UI" panose="020B0502040204020203" pitchFamily="34" charset="0"/>
              </a:rPr>
              <a:t>jours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précédents</a:t>
            </a:r>
            <a:r>
              <a:rPr lang="en-US" sz="1100" noProof="0">
                <a:latin typeface="Segoe UI" panose="020B0502040204020203" pitchFamily="34" charset="0"/>
              </a:rPr>
              <a:t> les </a:t>
            </a:r>
            <a:r>
              <a:rPr lang="en-US" sz="1100" noProof="0" err="1">
                <a:latin typeface="Segoe UI" panose="020B0502040204020203" pitchFamily="34" charset="0"/>
              </a:rPr>
              <a:t>datas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affichées</a:t>
            </a:r>
            <a:r>
              <a:rPr lang="en-US" sz="1100" noProof="0">
                <a:latin typeface="Segoe UI" panose="020B0502040204020203" pitchFamily="34" charset="0"/>
              </a:rPr>
              <a:t> (m-1)</a:t>
            </a: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668D41-3588-A468-7A10-0EDEB0B7F196}"/>
              </a:ext>
            </a:extLst>
          </p:cNvPr>
          <p:cNvSpPr/>
          <p:nvPr/>
        </p:nvSpPr>
        <p:spPr>
          <a:xfrm>
            <a:off x="455174" y="1511458"/>
            <a:ext cx="1800000" cy="72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45</a:t>
            </a:r>
          </a:p>
          <a:p>
            <a:pPr algn="ctr"/>
            <a:r>
              <a:rPr lang="en-US" sz="1200" noProof="0">
                <a:solidFill>
                  <a:prstClr val="black"/>
                </a:solidFill>
                <a:latin typeface="Aptos" panose="02110004020202020204"/>
              </a:rPr>
              <a:t>Maltimize unique users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3D85A8-67B7-494F-497C-E11D946EDC2A}"/>
              </a:ext>
            </a:extLst>
          </p:cNvPr>
          <p:cNvSpPr/>
          <p:nvPr/>
        </p:nvSpPr>
        <p:spPr>
          <a:xfrm>
            <a:off x="2613884" y="1504696"/>
            <a:ext cx="1800000" cy="72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33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prstClr val="black"/>
                </a:solidFill>
                <a:latin typeface="Aptos" panose="02110004020202020204"/>
              </a:rPr>
              <a:t>Dashboards PowerBI unique u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sers</a:t>
            </a:r>
          </a:p>
        </p:txBody>
      </p:sp>
      <p:sp>
        <p:nvSpPr>
          <p:cNvPr id="9" name="Flèche : bas 8">
            <a:extLst>
              <a:ext uri="{FF2B5EF4-FFF2-40B4-BE49-F238E27FC236}">
                <a16:creationId xmlns:a16="http://schemas.microsoft.com/office/drawing/2014/main" id="{76EF7DF6-9299-DE9D-1DD5-9BDC394D8FC6}"/>
              </a:ext>
            </a:extLst>
          </p:cNvPr>
          <p:cNvSpPr/>
          <p:nvPr/>
        </p:nvSpPr>
        <p:spPr>
          <a:xfrm>
            <a:off x="4313281" y="1599104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2CE5F2D-6DF3-1CC6-3F63-19D21A68964C}"/>
              </a:ext>
            </a:extLst>
          </p:cNvPr>
          <p:cNvSpPr txBox="1"/>
          <p:nvPr/>
        </p:nvSpPr>
        <p:spPr>
          <a:xfrm>
            <a:off x="4272672" y="2099983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11" name="Flèche : haut 10">
            <a:extLst>
              <a:ext uri="{FF2B5EF4-FFF2-40B4-BE49-F238E27FC236}">
                <a16:creationId xmlns:a16="http://schemas.microsoft.com/office/drawing/2014/main" id="{BCAA8EF4-D170-338B-3996-588C0A76629D}"/>
              </a:ext>
            </a:extLst>
          </p:cNvPr>
          <p:cNvSpPr/>
          <p:nvPr/>
        </p:nvSpPr>
        <p:spPr>
          <a:xfrm>
            <a:off x="2148346" y="1651012"/>
            <a:ext cx="307085" cy="458819"/>
          </a:xfrm>
          <a:prstGeom prst="up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ADD6DA1-BA04-0F75-AB45-1A13837EB286}"/>
              </a:ext>
            </a:extLst>
          </p:cNvPr>
          <p:cNvSpPr txBox="1"/>
          <p:nvPr/>
        </p:nvSpPr>
        <p:spPr>
          <a:xfrm>
            <a:off x="2164047" y="2039070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</p:spTree>
    <p:extLst>
      <p:ext uri="{BB962C8B-B14F-4D97-AF65-F5344CB8AC3E}">
        <p14:creationId xmlns:p14="http://schemas.microsoft.com/office/powerpoint/2010/main" val="317137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07EB8-0387-9656-39F6-B7308B9C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ZoneTexte 17">
            <a:extLst>
              <a:ext uri="{FF2B5EF4-FFF2-40B4-BE49-F238E27FC236}">
                <a16:creationId xmlns:a16="http://schemas.microsoft.com/office/drawing/2014/main" id="{FA58B9AA-E6E0-DE50-281C-4D60F3E5335F}"/>
              </a:ext>
            </a:extLst>
          </p:cNvPr>
          <p:cNvSpPr txBox="1"/>
          <p:nvPr/>
        </p:nvSpPr>
        <p:spPr>
          <a:xfrm>
            <a:off x="176848" y="782711"/>
            <a:ext cx="659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/>
              <a:t>3. </a:t>
            </a:r>
            <a:r>
              <a:rPr lang="en-US" sz="2000" b="1" noProof="0" err="1"/>
              <a:t>Détails</a:t>
            </a:r>
            <a:r>
              <a:rPr lang="en-US" sz="2000" b="1" noProof="0"/>
              <a:t> : Data Quality &amp; Completeness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F380417-DD30-25A8-A7EC-F30246F20773}"/>
              </a:ext>
            </a:extLst>
          </p:cNvPr>
          <p:cNvSpPr txBox="1"/>
          <p:nvPr/>
        </p:nvSpPr>
        <p:spPr>
          <a:xfrm>
            <a:off x="198874" y="3770194"/>
            <a:ext cx="6227435" cy="8386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t">
              <a:buNone/>
            </a:pPr>
            <a:r>
              <a:rPr lang="en-US" sz="1100" b="1" i="1" noProof="0">
                <a:latin typeface="Segoe UI" panose="020B0502040204020203" pitchFamily="34" charset="0"/>
              </a:rPr>
              <a:t>Ci-dessus les données </a:t>
            </a:r>
            <a:r>
              <a:rPr lang="en-US" sz="1100" b="1" i="1" noProof="0" err="1">
                <a:latin typeface="Segoe UI" panose="020B0502040204020203" pitchFamily="34" charset="0"/>
              </a:rPr>
              <a:t>souhaitées</a:t>
            </a:r>
            <a:r>
              <a:rPr lang="en-US" sz="1100" b="1" i="1" noProof="0">
                <a:latin typeface="Segoe UI" panose="020B0502040204020203" pitchFamily="34" charset="0"/>
              </a:rPr>
              <a:t> indispensables.</a:t>
            </a:r>
          </a:p>
          <a:p>
            <a:pPr fontAlgn="t">
              <a:buNone/>
            </a:pPr>
            <a:endParaRPr lang="en-US" sz="1100" b="1" i="1" noProof="0">
              <a:latin typeface="Segoe UI" panose="020B0502040204020203" pitchFamily="34" charset="0"/>
            </a:endParaRPr>
          </a:p>
          <a:p>
            <a:pPr fontAlgn="t">
              <a:buNone/>
            </a:pPr>
            <a:endParaRPr lang="en-US" sz="1100" b="1" i="1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u="sng" noProof="0" err="1">
                <a:latin typeface="Segoe UI" panose="020B0502040204020203" pitchFamily="34" charset="0"/>
              </a:rPr>
              <a:t>Précisions</a:t>
            </a:r>
            <a:r>
              <a:rPr lang="en-US" sz="1100" b="1" u="sng" noProof="0">
                <a:latin typeface="Segoe UI" panose="020B0502040204020203" pitchFamily="34" charset="0"/>
              </a:rPr>
              <a:t> sur </a:t>
            </a:r>
            <a:r>
              <a:rPr lang="en-US" sz="1100" b="1" u="sng" noProof="0" err="1">
                <a:latin typeface="Segoe UI" panose="020B0502040204020203" pitchFamily="34" charset="0"/>
              </a:rPr>
              <a:t>chaque</a:t>
            </a:r>
            <a:r>
              <a:rPr lang="en-US" sz="1100" b="1" u="sng" noProof="0">
                <a:latin typeface="Segoe UI" panose="020B0502040204020203" pitchFamily="34" charset="0"/>
              </a:rPr>
              <a:t> data :</a:t>
            </a: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/>
            <a:r>
              <a:rPr lang="en-US" sz="1100" i="1" noProof="0"/>
              <a:t>Section « Recommendations blocked by » : </a:t>
            </a:r>
            <a:r>
              <a:rPr lang="en-US" sz="1100" noProof="0">
                <a:latin typeface="Segoe UI"/>
                <a:cs typeface="Segoe UI"/>
              </a:rPr>
              <a:t>Les données </a:t>
            </a:r>
            <a:r>
              <a:rPr lang="en-US" sz="1100" noProof="0" err="1">
                <a:latin typeface="Segoe UI"/>
                <a:cs typeface="Segoe UI"/>
              </a:rPr>
              <a:t>nécessaires</a:t>
            </a:r>
            <a:r>
              <a:rPr lang="en-US" sz="1100" noProof="0">
                <a:latin typeface="Segoe UI"/>
                <a:cs typeface="Segoe UI"/>
              </a:rPr>
              <a:t> pour </a:t>
            </a:r>
            <a:r>
              <a:rPr lang="en-US" sz="1100" noProof="0" err="1">
                <a:latin typeface="Segoe UI"/>
                <a:cs typeface="Segoe UI"/>
              </a:rPr>
              <a:t>cette</a:t>
            </a:r>
            <a:r>
              <a:rPr lang="en-US" sz="1100" noProof="0">
                <a:latin typeface="Segoe UI"/>
                <a:cs typeface="Segoe UI"/>
              </a:rPr>
              <a:t> section </a:t>
            </a:r>
            <a:r>
              <a:rPr lang="en-US" sz="1100" noProof="0" err="1">
                <a:latin typeface="Segoe UI"/>
                <a:cs typeface="Segoe UI"/>
              </a:rPr>
              <a:t>sont</a:t>
            </a:r>
            <a:r>
              <a:rPr lang="en-US" sz="1100" noProof="0">
                <a:latin typeface="Segoe UI"/>
                <a:cs typeface="Segoe UI"/>
              </a:rPr>
              <a:t> </a:t>
            </a:r>
            <a:r>
              <a:rPr lang="en-US" sz="1100" noProof="0" err="1">
                <a:latin typeface="Segoe UI"/>
                <a:cs typeface="Segoe UI"/>
              </a:rPr>
              <a:t>disponibles</a:t>
            </a:r>
            <a:r>
              <a:rPr lang="en-US" sz="1100" noProof="0">
                <a:latin typeface="Segoe UI"/>
                <a:cs typeface="Segoe UI"/>
              </a:rPr>
              <a:t> dans les </a:t>
            </a:r>
            <a:r>
              <a:rPr lang="en-US" sz="1100" b="1" noProof="0">
                <a:latin typeface="Segoe UI"/>
                <a:cs typeface="Segoe UI"/>
              </a:rPr>
              <a:t>dashboard monitoring </a:t>
            </a:r>
            <a:r>
              <a:rPr lang="en-US" sz="1100" b="1">
                <a:latin typeface="Segoe UI"/>
                <a:cs typeface="Segoe UI"/>
              </a:rPr>
              <a:t>des recommendation. </a:t>
            </a:r>
            <a:br>
              <a:rPr lang="en-US" sz="1100" b="1">
                <a:latin typeface="Segoe UI" panose="020B0502040204020203" pitchFamily="34" charset="0"/>
              </a:rPr>
            </a:br>
            <a:r>
              <a:rPr lang="en-US" sz="1100" b="1">
                <a:latin typeface="Segoe UI"/>
                <a:cs typeface="Segoe U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Success and failure details</a:t>
            </a:r>
          </a:p>
          <a:p>
            <a:br>
              <a:rPr lang="en-US" sz="1100" b="1" noProof="0">
                <a:latin typeface="Segoe UI" panose="020B0502040204020203" pitchFamily="34" charset="0"/>
              </a:rPr>
            </a:br>
            <a:br>
              <a:rPr lang="en-US" sz="1100" b="1" noProof="0">
                <a:latin typeface="Segoe UI" panose="020B0502040204020203" pitchFamily="34" charset="0"/>
              </a:rPr>
            </a:br>
            <a:r>
              <a:rPr lang="en-US" sz="1100" b="1" noProof="0">
                <a:latin typeface="Segoe UI"/>
                <a:cs typeface="Segoe UI"/>
              </a:rPr>
              <a:t>Uncaptured Aveva data: </a:t>
            </a:r>
            <a:br>
              <a:rPr lang="en-US" sz="1100" b="1" noProof="0">
                <a:latin typeface="Segoe UI" panose="020B0502040204020203" pitchFamily="34" charset="0"/>
              </a:rPr>
            </a:br>
            <a:r>
              <a:rPr lang="en-US" sz="1100" noProof="0">
                <a:latin typeface="Segoe UI"/>
                <a:cs typeface="Segoe UI"/>
              </a:rPr>
              <a:t>recommandations non disponibles en raison de capteurs défaillants ou chute de tags / total des recommandations</a:t>
            </a:r>
            <a:endParaRPr lang="en-US"/>
          </a:p>
          <a:p>
            <a:pPr fontAlgn="t"/>
            <a:endParaRPr lang="en-US" sz="1100" noProof="0">
              <a:latin typeface="Segoe UI" panose="020B0502040204020203" pitchFamily="34" charset="0"/>
            </a:endParaRPr>
          </a:p>
          <a:p>
            <a:pPr fontAlgn="t"/>
            <a:r>
              <a:rPr lang="en-US" sz="1100" b="1" noProof="0">
                <a:latin typeface="Segoe UI"/>
                <a:cs typeface="Segoe UI"/>
              </a:rPr>
              <a:t>Missing manual entries :</a:t>
            </a:r>
            <a:br>
              <a:rPr lang="en-US" sz="1100" noProof="0">
                <a:latin typeface="Segoe UI" panose="020B0502040204020203" pitchFamily="34" charset="0"/>
              </a:rPr>
            </a:br>
            <a:r>
              <a:rPr lang="en-US" sz="1100" noProof="0" err="1">
                <a:latin typeface="Segoe UI"/>
                <a:cs typeface="Segoe UI"/>
              </a:rPr>
              <a:t>recommandations</a:t>
            </a:r>
            <a:r>
              <a:rPr lang="en-US" sz="1100" noProof="0">
                <a:latin typeface="Segoe UI"/>
                <a:cs typeface="Segoe UI"/>
              </a:rPr>
              <a:t> non </a:t>
            </a:r>
            <a:r>
              <a:rPr lang="en-US" sz="1100" noProof="0" err="1">
                <a:latin typeface="Segoe UI"/>
                <a:cs typeface="Segoe UI"/>
              </a:rPr>
              <a:t>disponibles</a:t>
            </a:r>
            <a:r>
              <a:rPr lang="en-US" sz="1100" noProof="0">
                <a:latin typeface="Segoe UI"/>
                <a:cs typeface="Segoe UI"/>
              </a:rPr>
              <a:t> </a:t>
            </a:r>
            <a:r>
              <a:rPr lang="en-US" sz="1100" noProof="0" err="1">
                <a:latin typeface="Segoe UI"/>
                <a:cs typeface="Segoe UI"/>
              </a:rPr>
              <a:t>en</a:t>
            </a:r>
            <a:r>
              <a:rPr lang="en-US" sz="1100" noProof="0">
                <a:latin typeface="Segoe UI"/>
                <a:cs typeface="Segoe UI"/>
              </a:rPr>
              <a:t> raison </a:t>
            </a:r>
            <a:r>
              <a:rPr lang="en-US" sz="1100" noProof="0" err="1">
                <a:latin typeface="Segoe UI"/>
                <a:cs typeface="Segoe UI"/>
              </a:rPr>
              <a:t>des données</a:t>
            </a:r>
            <a:r>
              <a:rPr lang="en-US" sz="1100" noProof="0">
                <a:latin typeface="Segoe UI"/>
                <a:cs typeface="Segoe UI"/>
              </a:rPr>
              <a:t> </a:t>
            </a:r>
            <a:r>
              <a:rPr lang="en-US" sz="1100" noProof="0" err="1">
                <a:latin typeface="Segoe UI"/>
                <a:cs typeface="Segoe UI"/>
              </a:rPr>
              <a:t>manuelles</a:t>
            </a:r>
            <a:r>
              <a:rPr lang="en-US" sz="1100" noProof="0">
                <a:latin typeface="Segoe UI"/>
                <a:cs typeface="Segoe UI"/>
              </a:rPr>
              <a:t> + données </a:t>
            </a:r>
            <a:r>
              <a:rPr lang="en-US" sz="1100" noProof="0" err="1">
                <a:latin typeface="Segoe UI"/>
                <a:cs typeface="Segoe UI"/>
              </a:rPr>
              <a:t>manuelles</a:t>
            </a:r>
            <a:r>
              <a:rPr lang="en-US" sz="1100" noProof="0">
                <a:latin typeface="Segoe UI"/>
                <a:cs typeface="Segoe UI"/>
              </a:rPr>
              <a:t> et auto / total des </a:t>
            </a:r>
            <a:r>
              <a:rPr lang="en-US" sz="1100" noProof="0" err="1">
                <a:latin typeface="Segoe UI"/>
                <a:cs typeface="Segoe UI"/>
              </a:rPr>
              <a:t>recommandations</a:t>
            </a:r>
          </a:p>
          <a:p>
            <a:pPr fontAlgn="t"/>
            <a:br>
              <a:rPr lang="en-US" sz="1100" b="1" noProof="0">
                <a:latin typeface="Segoe UI" panose="020B0502040204020203" pitchFamily="34" charset="0"/>
              </a:rPr>
            </a:br>
            <a:r>
              <a:rPr lang="en-US" sz="1100" i="1" noProof="0"/>
              <a:t>Section « Incomplete SAP results in  </a:t>
            </a:r>
            <a:r>
              <a:rPr lang="en-US" sz="1100" i="1" noProof="0" err="1"/>
              <a:t>dataplatform</a:t>
            </a:r>
            <a:r>
              <a:rPr lang="en-US" sz="1100" i="1" noProof="0"/>
              <a:t> » : </a:t>
            </a:r>
            <a:r>
              <a:rPr lang="en-US" sz="1100" noProof="0">
                <a:latin typeface="Segoe UI"/>
                <a:cs typeface="Segoe UI"/>
              </a:rPr>
              <a:t>Les données </a:t>
            </a:r>
            <a:r>
              <a:rPr lang="en-US" sz="1100" noProof="0" err="1">
                <a:latin typeface="Segoe UI"/>
                <a:cs typeface="Segoe UI"/>
              </a:rPr>
              <a:t>nécessaires</a:t>
            </a:r>
            <a:r>
              <a:rPr lang="en-US" sz="1100" noProof="0">
                <a:latin typeface="Segoe UI"/>
                <a:cs typeface="Segoe UI"/>
              </a:rPr>
              <a:t> pour </a:t>
            </a:r>
            <a:r>
              <a:rPr lang="en-US" sz="1100" noProof="0" err="1">
                <a:latin typeface="Segoe UI"/>
                <a:cs typeface="Segoe UI"/>
              </a:rPr>
              <a:t>cette</a:t>
            </a:r>
            <a:r>
              <a:rPr lang="en-US" sz="1100" noProof="0">
                <a:latin typeface="Segoe UI"/>
                <a:cs typeface="Segoe UI"/>
              </a:rPr>
              <a:t> section </a:t>
            </a:r>
            <a:r>
              <a:rPr lang="en-US" sz="1100" noProof="0" err="1">
                <a:latin typeface="Segoe UI"/>
                <a:cs typeface="Segoe UI"/>
              </a:rPr>
              <a:t>sont</a:t>
            </a:r>
            <a:r>
              <a:rPr lang="en-US" sz="1100" noProof="0">
                <a:latin typeface="Segoe UI"/>
                <a:cs typeface="Segoe UI"/>
              </a:rPr>
              <a:t> </a:t>
            </a:r>
            <a:r>
              <a:rPr lang="en-US" sz="1100" noProof="0" err="1">
                <a:latin typeface="Segoe UI"/>
                <a:cs typeface="Segoe UI"/>
              </a:rPr>
              <a:t>disponibles</a:t>
            </a:r>
            <a:r>
              <a:rPr lang="en-US" sz="1100" noProof="0">
                <a:latin typeface="Segoe UI"/>
                <a:cs typeface="Segoe UI"/>
              </a:rPr>
              <a:t> dans les tables DE, à </a:t>
            </a:r>
            <a:r>
              <a:rPr lang="en-US" sz="1100" noProof="0" err="1">
                <a:latin typeface="Segoe UI"/>
                <a:cs typeface="Segoe UI"/>
              </a:rPr>
              <a:t>voir</a:t>
            </a:r>
            <a:r>
              <a:rPr lang="en-US" sz="1100" noProof="0">
                <a:latin typeface="Segoe UI"/>
                <a:cs typeface="Segoe UI"/>
              </a:rPr>
              <a:t> avec </a:t>
            </a:r>
            <a:r>
              <a:rPr lang="en-US" sz="1100" noProof="0" err="1">
                <a:latin typeface="Segoe UI"/>
                <a:cs typeface="Segoe UI"/>
              </a:rPr>
              <a:t>eux</a:t>
            </a:r>
            <a:r>
              <a:rPr lang="en-US" sz="1100" noProof="0">
                <a:latin typeface="Segoe UI"/>
                <a:cs typeface="Segoe UI"/>
              </a:rPr>
              <a:t>.</a:t>
            </a:r>
            <a:br>
              <a:rPr lang="en-US" sz="1100" b="1" noProof="0">
                <a:latin typeface="Segoe UI" panose="020B0502040204020203" pitchFamily="34" charset="0"/>
              </a:rPr>
            </a:br>
            <a:endParaRPr lang="en-US" sz="1100" i="1" noProof="0"/>
          </a:p>
          <a:p>
            <a:pPr fontAlgn="t">
              <a:buNone/>
            </a:pPr>
            <a:endParaRPr lang="en-US" sz="1100" b="1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noProof="0">
                <a:latin typeface="Segoe UI"/>
                <a:cs typeface="Segoe UI"/>
              </a:rPr>
              <a:t>% Batches </a:t>
            </a:r>
            <a:r>
              <a:rPr lang="en-US" sz="1100" b="1" noProof="0" err="1">
                <a:latin typeface="Segoe UI"/>
                <a:cs typeface="Segoe UI"/>
              </a:rPr>
              <a:t> with </a:t>
            </a:r>
            <a:r>
              <a:rPr lang="en-US" sz="1100" b="1" noProof="0">
                <a:latin typeface="Segoe UI"/>
                <a:cs typeface="Segoe UI"/>
              </a:rPr>
              <a:t>missing S</a:t>
            </a:r>
            <a:r>
              <a:rPr lang="en-US" sz="1100" b="1" noProof="0" err="1">
                <a:latin typeface="Segoe UI"/>
                <a:cs typeface="Segoe UI"/>
              </a:rPr>
              <a:t>AP ma</a:t>
            </a:r>
            <a:r>
              <a:rPr lang="en-US" sz="1100" b="1" noProof="0">
                <a:latin typeface="Segoe UI"/>
                <a:cs typeface="Segoe UI"/>
              </a:rPr>
              <a:t>n</a:t>
            </a:r>
            <a:r>
              <a:rPr lang="en-US" sz="1100" b="1" noProof="0" err="1">
                <a:latin typeface="Segoe UI"/>
                <a:cs typeface="Segoe UI"/>
              </a:rPr>
              <a:t>dat</a:t>
            </a:r>
            <a:r>
              <a:rPr lang="en-US" sz="1100" b="1" noProof="0">
                <a:latin typeface="Segoe UI"/>
                <a:cs typeface="Segoe UI"/>
              </a:rPr>
              <a:t>ory data :</a:t>
            </a:r>
          </a:p>
          <a:p>
            <a:pPr fontAlgn="t">
              <a:buNone/>
            </a:pPr>
            <a:r>
              <a:rPr lang="en-US" sz="1100" noProof="0">
                <a:latin typeface="Segoe UI" panose="020B0502040204020203" pitchFamily="34" charset="0"/>
              </a:rPr>
              <a:t>Nombre de </a:t>
            </a:r>
            <a:r>
              <a:rPr lang="en-US" sz="1100" noProof="0" err="1">
                <a:latin typeface="Segoe UI" panose="020B0502040204020203" pitchFamily="34" charset="0"/>
              </a:rPr>
              <a:t>batchs</a:t>
            </a:r>
            <a:r>
              <a:rPr lang="en-US" sz="1100" noProof="0">
                <a:latin typeface="Segoe UI" panose="020B0502040204020203" pitchFamily="34" charset="0"/>
              </a:rPr>
              <a:t> avec au </a:t>
            </a:r>
            <a:r>
              <a:rPr lang="en-US" sz="1100" noProof="0" err="1">
                <a:latin typeface="Segoe UI" panose="020B0502040204020203" pitchFamily="34" charset="0"/>
              </a:rPr>
              <a:t>moins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une</a:t>
            </a:r>
            <a:r>
              <a:rPr lang="en-US" sz="1100" noProof="0">
                <a:latin typeface="Segoe UI" panose="020B0502040204020203" pitchFamily="34" charset="0"/>
              </a:rPr>
              <a:t> donnée SAP </a:t>
            </a:r>
            <a:r>
              <a:rPr lang="en-US" sz="1100" noProof="0" err="1">
                <a:latin typeface="Segoe UI" panose="020B0502040204020203" pitchFamily="34" charset="0"/>
              </a:rPr>
              <a:t>obligatoire</a:t>
            </a:r>
            <a:r>
              <a:rPr lang="en-US" sz="1100" noProof="0">
                <a:latin typeface="Segoe UI" panose="020B0502040204020203" pitchFamily="34" charset="0"/>
              </a:rPr>
              <a:t> pour </a:t>
            </a:r>
            <a:r>
              <a:rPr lang="en-US" sz="1100" noProof="0" err="1">
                <a:latin typeface="Segoe UI" panose="020B0502040204020203" pitchFamily="34" charset="0"/>
              </a:rPr>
              <a:t>l’IA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manquantes</a:t>
            </a:r>
            <a:r>
              <a:rPr lang="en-US" sz="1100" noProof="0">
                <a:latin typeface="Segoe UI" panose="020B0502040204020203" pitchFamily="34" charset="0"/>
              </a:rPr>
              <a:t> / </a:t>
            </a:r>
            <a:r>
              <a:rPr lang="en-US" sz="1100" noProof="0" err="1">
                <a:latin typeface="Segoe UI" panose="020B0502040204020203" pitchFamily="34" charset="0"/>
              </a:rPr>
              <a:t>nombre</a:t>
            </a:r>
            <a:r>
              <a:rPr lang="en-US" sz="1100" noProof="0">
                <a:latin typeface="Segoe UI" panose="020B0502040204020203" pitchFamily="34" charset="0"/>
              </a:rPr>
              <a:t> total de </a:t>
            </a:r>
            <a:r>
              <a:rPr lang="en-US" sz="1100" noProof="0" err="1">
                <a:latin typeface="Segoe UI" panose="020B0502040204020203" pitchFamily="34" charset="0"/>
              </a:rPr>
              <a:t>batchs</a:t>
            </a:r>
            <a:r>
              <a:rPr lang="en-US" sz="1100" noProof="0">
                <a:latin typeface="Segoe UI" panose="020B0502040204020203" pitchFamily="34" charset="0"/>
              </a:rPr>
              <a:t> dans la </a:t>
            </a:r>
            <a:r>
              <a:rPr lang="en-US" sz="1100" noProof="0" err="1">
                <a:latin typeface="Segoe UI" panose="020B0502040204020203" pitchFamily="34" charset="0"/>
              </a:rPr>
              <a:t>dataplateforme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Uniqueme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n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t s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ur l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es bat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chs avec un statut “ter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miné” 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–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 ne pas con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sidérer les ba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tc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h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s “en 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cour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s”</a:t>
            </a:r>
          </a:p>
          <a:p>
            <a:pPr fontAlgn="t">
              <a:buNone/>
            </a:pP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Vérifier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que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le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statut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undefined mis sur les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batchs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historiques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et bien pris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en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compte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et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recalculé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par les DE.</a:t>
            </a: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</a:rPr>
              <a:t>DE : </a:t>
            </a:r>
            <a:r>
              <a:rPr lang="en-US" sz="1100" noProof="0" err="1">
                <a:highlight>
                  <a:srgbClr val="00FFFF"/>
                </a:highlight>
                <a:latin typeface="Segoe UI" panose="020B0502040204020203" pitchFamily="34" charset="0"/>
              </a:rPr>
              <a:t>préciser</a:t>
            </a: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</a:rPr>
              <a:t> </a:t>
            </a:r>
            <a:r>
              <a:rPr lang="en-US" sz="1100" noProof="0" err="1">
                <a:highlight>
                  <a:srgbClr val="00FFFF"/>
                </a:highlight>
                <a:latin typeface="Segoe UI" panose="020B0502040204020203" pitchFamily="34" charset="0"/>
              </a:rPr>
              <a:t>où</a:t>
            </a: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</a:rPr>
              <a:t> et comment on </a:t>
            </a:r>
            <a:r>
              <a:rPr lang="en-US" sz="1100" noProof="0" err="1">
                <a:highlight>
                  <a:srgbClr val="00FFFF"/>
                </a:highlight>
                <a:latin typeface="Segoe UI" panose="020B0502040204020203" pitchFamily="34" charset="0"/>
              </a:rPr>
              <a:t>peut</a:t>
            </a: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</a:rPr>
              <a:t> </a:t>
            </a:r>
            <a:r>
              <a:rPr lang="en-US" sz="1100" noProof="0" err="1">
                <a:highlight>
                  <a:srgbClr val="00FFFF"/>
                </a:highlight>
                <a:latin typeface="Segoe UI" panose="020B0502040204020203" pitchFamily="34" charset="0"/>
              </a:rPr>
              <a:t>récupérer</a:t>
            </a: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</a:rPr>
              <a:t> la donnée</a:t>
            </a:r>
          </a:p>
          <a:p>
            <a:pPr fontAlgn="t">
              <a:buNone/>
            </a:pPr>
            <a:endParaRPr lang="en-US" sz="1100" b="1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noProof="0">
                <a:latin typeface="Segoe UI"/>
                <a:cs typeface="Segoe UI"/>
              </a:rPr>
              <a:t>Mandatory SAP data </a:t>
            </a:r>
            <a:r>
              <a:rPr lang="en-US" sz="1100" b="1" noProof="0" err="1">
                <a:latin typeface="Segoe UI"/>
                <a:cs typeface="Segoe UI"/>
              </a:rPr>
              <a:t> missing :</a:t>
            </a:r>
          </a:p>
          <a:p>
            <a:pPr fontAlgn="t"/>
            <a:r>
              <a:rPr lang="en-US" sz="1100" noProof="0">
                <a:latin typeface="Segoe UI"/>
                <a:cs typeface="Segoe UI"/>
              </a:rPr>
              <a:t>N</a:t>
            </a:r>
            <a:r>
              <a:rPr lang="en-US" sz="1100" noProof="0" err="1">
                <a:latin typeface="Segoe UI"/>
                <a:cs typeface="Segoe UI"/>
              </a:rPr>
              <a:t>ombre de d</a:t>
            </a:r>
            <a:r>
              <a:rPr lang="en-US" sz="1100" noProof="0">
                <a:latin typeface="Segoe UI"/>
                <a:cs typeface="Segoe UI"/>
              </a:rPr>
              <a:t>ata SAP o</a:t>
            </a:r>
            <a:r>
              <a:rPr lang="en-US" sz="1100" noProof="0" err="1">
                <a:latin typeface="Segoe UI"/>
                <a:cs typeface="Segoe UI"/>
              </a:rPr>
              <a:t>bligat</a:t>
            </a:r>
            <a:r>
              <a:rPr lang="en-US" sz="1100" noProof="0">
                <a:latin typeface="Segoe UI"/>
                <a:cs typeface="Segoe UI"/>
              </a:rPr>
              <a:t>oires pou</a:t>
            </a:r>
            <a:r>
              <a:rPr lang="en-US" sz="1100" noProof="0" err="1">
                <a:latin typeface="Segoe UI"/>
                <a:cs typeface="Segoe UI"/>
              </a:rPr>
              <a:t>r l’IA</a:t>
            </a:r>
            <a:r>
              <a:rPr lang="en-US" sz="1100" noProof="0">
                <a:latin typeface="Segoe UI"/>
                <a:cs typeface="Segoe UI"/>
              </a:rPr>
              <a:t> m</a:t>
            </a:r>
            <a:r>
              <a:rPr lang="en-US" sz="1100" noProof="0" err="1">
                <a:latin typeface="Segoe UI"/>
                <a:cs typeface="Segoe UI"/>
              </a:rPr>
              <a:t>anquant</a:t>
            </a:r>
            <a:r>
              <a:rPr lang="en-US" sz="1100" noProof="0">
                <a:latin typeface="Segoe UI"/>
                <a:cs typeface="Segoe UI"/>
              </a:rPr>
              <a:t>es / nombre</a:t>
            </a:r>
            <a:r>
              <a:rPr lang="en-US" sz="1100" noProof="0" err="1">
                <a:latin typeface="Segoe UI"/>
                <a:cs typeface="Segoe UI"/>
              </a:rPr>
              <a:t> total de </a:t>
            </a:r>
            <a:r>
              <a:rPr lang="en-US" sz="1100" noProof="0">
                <a:latin typeface="Segoe UI"/>
                <a:cs typeface="Segoe UI"/>
              </a:rPr>
              <a:t>donné</a:t>
            </a:r>
            <a:r>
              <a:rPr lang="en-US" sz="1100" noProof="0" err="1">
                <a:latin typeface="Segoe UI"/>
                <a:cs typeface="Segoe UI"/>
              </a:rPr>
              <a:t>es SAP</a:t>
            </a:r>
            <a:r>
              <a:rPr lang="en-US" sz="1100" noProof="0">
                <a:latin typeface="Segoe UI"/>
                <a:cs typeface="Segoe UI"/>
              </a:rPr>
              <a:t> o</a:t>
            </a:r>
            <a:r>
              <a:rPr lang="en-US" sz="1100" noProof="0" err="1">
                <a:latin typeface="Segoe UI"/>
                <a:cs typeface="Segoe UI"/>
              </a:rPr>
              <a:t>bl</a:t>
            </a:r>
            <a:r>
              <a:rPr lang="en-US" sz="1100" noProof="0">
                <a:latin typeface="Segoe UI"/>
                <a:cs typeface="Segoe UI"/>
              </a:rPr>
              <a:t>i</a:t>
            </a:r>
            <a:r>
              <a:rPr lang="en-US" sz="1100" noProof="0" err="1">
                <a:latin typeface="Segoe UI"/>
                <a:cs typeface="Segoe UI"/>
              </a:rPr>
              <a:t>gatoi</a:t>
            </a:r>
            <a:r>
              <a:rPr lang="en-US" sz="1100" noProof="0">
                <a:latin typeface="Segoe UI"/>
                <a:cs typeface="Segoe UI"/>
              </a:rPr>
              <a:t>res</a:t>
            </a:r>
          </a:p>
          <a:p>
            <a:pPr fontAlgn="t">
              <a:buNone/>
            </a:pPr>
            <a:b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</a:rPr>
            </a:b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Uniquem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e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nt 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sur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les ba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tchs avec un statut “te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rminé”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– ne pas co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nsidérer les b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at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c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hs “en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cou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rs”</a:t>
            </a:r>
          </a:p>
          <a:p>
            <a:pPr fontAlgn="t">
              <a:buNone/>
            </a:pP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Vérifier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que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le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statut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undefined mis sur les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batchs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historiques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et bien pris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en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compte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et </a:t>
            </a:r>
            <a:r>
              <a:rPr lang="en-US" sz="1100" noProof="0" err="1">
                <a:highlight>
                  <a:srgbClr val="00FFFF"/>
                </a:highlight>
                <a:latin typeface="Segoe UI"/>
                <a:cs typeface="Segoe UI"/>
              </a:rPr>
              <a:t>recalculé</a:t>
            </a:r>
            <a:r>
              <a:rPr lang="en-US" sz="1100" noProof="0">
                <a:highlight>
                  <a:srgbClr val="00FFFF"/>
                </a:highlight>
                <a:latin typeface="Segoe UI"/>
                <a:cs typeface="Segoe UI"/>
              </a:rPr>
              <a:t> par les DE.</a:t>
            </a: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/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</a:rPr>
              <a:t>DE : </a:t>
            </a:r>
            <a:r>
              <a:rPr lang="en-US" sz="1100" noProof="0" err="1">
                <a:highlight>
                  <a:srgbClr val="00FFFF"/>
                </a:highlight>
                <a:latin typeface="Segoe UI" panose="020B0502040204020203" pitchFamily="34" charset="0"/>
              </a:rPr>
              <a:t>préciser</a:t>
            </a: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</a:rPr>
              <a:t> </a:t>
            </a:r>
            <a:r>
              <a:rPr lang="en-US" sz="1100" noProof="0" err="1">
                <a:highlight>
                  <a:srgbClr val="00FFFF"/>
                </a:highlight>
                <a:latin typeface="Segoe UI" panose="020B0502040204020203" pitchFamily="34" charset="0"/>
              </a:rPr>
              <a:t>où</a:t>
            </a: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</a:rPr>
              <a:t> et comment on </a:t>
            </a:r>
            <a:r>
              <a:rPr lang="en-US" sz="1100" noProof="0" err="1">
                <a:highlight>
                  <a:srgbClr val="00FFFF"/>
                </a:highlight>
                <a:latin typeface="Segoe UI" panose="020B0502040204020203" pitchFamily="34" charset="0"/>
              </a:rPr>
              <a:t>peut</a:t>
            </a: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</a:rPr>
              <a:t> </a:t>
            </a:r>
            <a:r>
              <a:rPr lang="en-US" sz="1100" noProof="0" err="1">
                <a:highlight>
                  <a:srgbClr val="00FFFF"/>
                </a:highlight>
                <a:latin typeface="Segoe UI" panose="020B0502040204020203" pitchFamily="34" charset="0"/>
              </a:rPr>
              <a:t>récupérer</a:t>
            </a: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</a:rPr>
              <a:t> la donnée</a:t>
            </a: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/>
            <a:br>
              <a:rPr lang="en-US" sz="1100" noProof="0">
                <a:latin typeface="Segoe UI" panose="020B0502040204020203" pitchFamily="34" charset="0"/>
              </a:rPr>
            </a:br>
            <a:r>
              <a:rPr lang="en-US" sz="1100" noProof="0">
                <a:latin typeface="Segoe UI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en-US" sz="1100" noProof="0">
                <a:latin typeface="Segoe UI" panose="020B0502040204020203" pitchFamily="34" charset="0"/>
              </a:rPr>
              <a:t>à </a:t>
            </a:r>
            <a:r>
              <a:rPr lang="en-US" sz="1100" noProof="0" err="1">
                <a:latin typeface="Segoe UI" panose="020B0502040204020203" pitchFamily="34" charset="0"/>
              </a:rPr>
              <a:t>voir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si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l’on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peut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également</a:t>
            </a:r>
            <a:r>
              <a:rPr lang="en-US" sz="1100" noProof="0">
                <a:latin typeface="Segoe UI" panose="020B0502040204020203" pitchFamily="34" charset="0"/>
              </a:rPr>
              <a:t> identifier des données “Hors </a:t>
            </a:r>
            <a:r>
              <a:rPr lang="en-US" sz="1100" noProof="0" err="1">
                <a:latin typeface="Segoe UI" panose="020B0502040204020203" pitchFamily="34" charset="0"/>
              </a:rPr>
              <a:t>qualité</a:t>
            </a:r>
            <a:r>
              <a:rPr lang="en-US" sz="1100" noProof="0">
                <a:latin typeface="Segoe UI" panose="020B0502040204020203" pitchFamily="34" charset="0"/>
              </a:rPr>
              <a:t>” avec des </a:t>
            </a:r>
            <a:r>
              <a:rPr lang="en-US" sz="1100" noProof="0" err="1">
                <a:latin typeface="Segoe UI" panose="020B0502040204020203" pitchFamily="34" charset="0"/>
              </a:rPr>
              <a:t>erreurs</a:t>
            </a:r>
            <a:r>
              <a:rPr lang="en-US" sz="1100" noProof="0">
                <a:latin typeface="Segoe UI" panose="020B0502040204020203" pitchFamily="34" charset="0"/>
              </a:rPr>
              <a:t> de </a:t>
            </a:r>
            <a:r>
              <a:rPr lang="en-US" sz="1100" noProof="0" err="1">
                <a:latin typeface="Segoe UI" panose="020B0502040204020203" pitchFamily="34" charset="0"/>
              </a:rPr>
              <a:t>saisies</a:t>
            </a:r>
            <a:r>
              <a:rPr lang="en-US" sz="1100" noProof="0">
                <a:latin typeface="Segoe UI" panose="020B0502040204020203" pitchFamily="34" charset="0"/>
              </a:rPr>
              <a:t>.</a:t>
            </a:r>
            <a:br>
              <a:rPr lang="en-US" sz="1100" noProof="0">
                <a:latin typeface="Segoe UI" panose="020B0502040204020203" pitchFamily="34" charset="0"/>
              </a:rPr>
            </a:br>
            <a:r>
              <a:rPr lang="en-US" sz="1100" b="1" noProof="0">
                <a:highlight>
                  <a:srgbClr val="00FFFF"/>
                </a:highlight>
                <a:latin typeface="Segoe UI" panose="020B0502040204020203" pitchFamily="34" charset="0"/>
              </a:rPr>
              <a:t>À </a:t>
            </a:r>
            <a:r>
              <a:rPr lang="en-US" sz="1100" b="1" noProof="0" err="1">
                <a:highlight>
                  <a:srgbClr val="00FFFF"/>
                </a:highlight>
                <a:latin typeface="Segoe UI" panose="020B0502040204020203" pitchFamily="34" charset="0"/>
              </a:rPr>
              <a:t>voir</a:t>
            </a:r>
            <a:r>
              <a:rPr lang="en-US" sz="1100" b="1" noProof="0">
                <a:highlight>
                  <a:srgbClr val="00FFFF"/>
                </a:highlight>
                <a:latin typeface="Segoe UI" panose="020B0502040204020203" pitchFamily="34" charset="0"/>
              </a:rPr>
              <a:t> par les DE</a:t>
            </a:r>
            <a:endParaRPr lang="en-US" sz="1100" b="1" noProof="0">
              <a:latin typeface="Segoe UI" panose="020B0502040204020203" pitchFamily="34" charset="0"/>
            </a:endParaRP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u="sng" noProof="0" err="1">
                <a:latin typeface="Segoe UI"/>
                <a:cs typeface="Segoe UI"/>
              </a:rPr>
              <a:t>Règle </a:t>
            </a:r>
            <a:r>
              <a:rPr lang="en-US" sz="1100" b="1" u="sng" noProof="0">
                <a:latin typeface="Segoe UI"/>
                <a:cs typeface="Segoe UI"/>
              </a:rPr>
              <a:t>d</a:t>
            </a:r>
            <a:r>
              <a:rPr lang="en-US" sz="1100" b="1" u="sng" noProof="0" err="1">
                <a:latin typeface="Segoe UI"/>
                <a:cs typeface="Segoe UI"/>
              </a:rPr>
              <a:t>e gesti</a:t>
            </a:r>
            <a:r>
              <a:rPr lang="en-US" sz="1100" b="1" u="sng" noProof="0">
                <a:latin typeface="Segoe UI"/>
                <a:cs typeface="Segoe UI"/>
              </a:rPr>
              <a:t>o</a:t>
            </a:r>
            <a:r>
              <a:rPr lang="en-US" sz="1100" b="1" u="sng" noProof="0" err="1">
                <a:latin typeface="Segoe UI"/>
                <a:cs typeface="Segoe UI"/>
              </a:rPr>
              <a:t>n : </a:t>
            </a:r>
          </a:p>
          <a:p>
            <a:pPr marL="171450" indent="-171450" fontAlgn="t">
              <a:buFontTx/>
              <a:buChar char="-"/>
            </a:pPr>
            <a:r>
              <a:rPr lang="en-US" sz="1100" noProof="0" err="1">
                <a:latin typeface="Segoe UI"/>
                <a:cs typeface="Segoe UI"/>
              </a:rPr>
              <a:t>Besoin</a:t>
            </a:r>
            <a:r>
              <a:rPr lang="en-US" sz="1100" noProof="0">
                <a:latin typeface="Segoe UI"/>
                <a:cs typeface="Segoe UI"/>
              </a:rPr>
              <a:t> d’aller chercher les infos de</a:t>
            </a:r>
            <a:r>
              <a:rPr lang="en-US" sz="1100" noProof="0" err="1">
                <a:latin typeface="Segoe UI"/>
                <a:cs typeface="Segoe UI"/>
              </a:rPr>
              <a:t>s 30 </a:t>
            </a:r>
            <a:r>
              <a:rPr lang="en-US" sz="1100" noProof="0">
                <a:latin typeface="Segoe UI"/>
                <a:cs typeface="Segoe UI"/>
              </a:rPr>
              <a:t>d</a:t>
            </a:r>
            <a:r>
              <a:rPr lang="en-US" sz="1100" noProof="0" err="1">
                <a:latin typeface="Segoe UI"/>
                <a:cs typeface="Segoe UI"/>
              </a:rPr>
              <a:t>erniers jo</a:t>
            </a:r>
            <a:r>
              <a:rPr lang="en-US" sz="1100" noProof="0">
                <a:latin typeface="Segoe UI"/>
                <a:cs typeface="Segoe UI"/>
              </a:rPr>
              <a:t>urs (</a:t>
            </a:r>
            <a:r>
              <a:rPr lang="en-US" sz="1100" noProof="0" err="1">
                <a:latin typeface="Segoe UI"/>
                <a:cs typeface="Segoe UI"/>
              </a:rPr>
              <a:t>m-1) </a:t>
            </a:r>
            <a:r>
              <a:rPr lang="en-US" sz="1100" noProof="0">
                <a:latin typeface="Segoe UI"/>
                <a:cs typeface="Segoe UI"/>
              </a:rPr>
              <a:t>&gt;</a:t>
            </a:r>
            <a:r>
              <a:rPr lang="en-US" sz="1100" noProof="0" err="1">
                <a:latin typeface="Segoe UI"/>
                <a:cs typeface="Segoe UI"/>
              </a:rPr>
              <a:t> demande </a:t>
            </a:r>
            <a:r>
              <a:rPr lang="en-US" sz="1100" noProof="0">
                <a:latin typeface="Segoe UI"/>
                <a:cs typeface="Segoe UI"/>
              </a:rPr>
              <a:t>MS</a:t>
            </a:r>
          </a:p>
          <a:p>
            <a:pPr marL="171450" indent="-171450" fontAlgn="t">
              <a:buFontTx/>
              <a:buChar char="-"/>
            </a:pPr>
            <a:r>
              <a:rPr lang="en-US" sz="1100" noProof="0" err="1">
                <a:latin typeface="Segoe UI" panose="020B0502040204020203" pitchFamily="34" charset="0"/>
              </a:rPr>
              <a:t>Mettre</a:t>
            </a:r>
            <a:r>
              <a:rPr lang="en-US" sz="1100" noProof="0">
                <a:latin typeface="Segoe UI" panose="020B0502040204020203" pitchFamily="34" charset="0"/>
              </a:rPr>
              <a:t> les tendances (trend) des 30 </a:t>
            </a:r>
            <a:r>
              <a:rPr lang="en-US" sz="1100" noProof="0" err="1">
                <a:latin typeface="Segoe UI" panose="020B0502040204020203" pitchFamily="34" charset="0"/>
              </a:rPr>
              <a:t>jours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précédents</a:t>
            </a:r>
            <a:r>
              <a:rPr lang="en-US" sz="1100" noProof="0">
                <a:latin typeface="Segoe UI" panose="020B0502040204020203" pitchFamily="34" charset="0"/>
              </a:rPr>
              <a:t> les </a:t>
            </a:r>
            <a:r>
              <a:rPr lang="en-US" sz="1100" noProof="0" err="1">
                <a:latin typeface="Segoe UI" panose="020B0502040204020203" pitchFamily="34" charset="0"/>
              </a:rPr>
              <a:t>datas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affichées</a:t>
            </a:r>
            <a:r>
              <a:rPr lang="en-US" sz="1100" noProof="0">
                <a:latin typeface="Segoe UI" panose="020B0502040204020203" pitchFamily="34" charset="0"/>
              </a:rPr>
              <a:t> (m-2)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1D498A-6F95-A4DA-FFD0-D2800613B54F}"/>
              </a:ext>
            </a:extLst>
          </p:cNvPr>
          <p:cNvSpPr/>
          <p:nvPr/>
        </p:nvSpPr>
        <p:spPr>
          <a:xfrm>
            <a:off x="4150565" y="1720943"/>
            <a:ext cx="1980000" cy="7974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12 % </a:t>
            </a:r>
            <a:br>
              <a:rPr lang="en-US" sz="1200" noProof="0">
                <a:solidFill>
                  <a:schemeClr val="tx1"/>
                </a:solidFill>
              </a:rPr>
            </a:br>
            <a:r>
              <a:rPr lang="en-US" sz="1200" noProof="0">
                <a:solidFill>
                  <a:schemeClr val="tx1"/>
                </a:solidFill>
              </a:rPr>
              <a:t>Missing manual entries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DA3A9B-A2AF-CE83-DFFE-8F903F3A088E}"/>
              </a:ext>
            </a:extLst>
          </p:cNvPr>
          <p:cNvSpPr/>
          <p:nvPr/>
        </p:nvSpPr>
        <p:spPr>
          <a:xfrm>
            <a:off x="1381574" y="1715865"/>
            <a:ext cx="1978642" cy="7907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24,3 % </a:t>
            </a:r>
            <a:br>
              <a:rPr lang="en-US" sz="1200" noProof="0">
                <a:solidFill>
                  <a:schemeClr val="tx1"/>
                </a:solidFill>
              </a:rPr>
            </a:br>
            <a:r>
              <a:rPr lang="en-US" sz="1200" noProof="0">
                <a:solidFill>
                  <a:schemeClr val="tx1"/>
                </a:solidFill>
              </a:rPr>
              <a:t>Uncaptured Aveva data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B7D7DFC-B87E-685B-BF21-B2153934AA25}"/>
              </a:ext>
            </a:extLst>
          </p:cNvPr>
          <p:cNvSpPr txBox="1"/>
          <p:nvPr/>
        </p:nvSpPr>
        <p:spPr>
          <a:xfrm>
            <a:off x="-23681" y="1684918"/>
            <a:ext cx="1271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noProof="0"/>
              <a:t>Recommendations blocked by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DFF76-3808-6E61-5FF0-FD25114F06E4}"/>
              </a:ext>
            </a:extLst>
          </p:cNvPr>
          <p:cNvSpPr/>
          <p:nvPr/>
        </p:nvSpPr>
        <p:spPr>
          <a:xfrm>
            <a:off x="1386556" y="2721279"/>
            <a:ext cx="1973660" cy="99309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X % </a:t>
            </a:r>
            <a:br>
              <a:rPr lang="en-US" sz="1200" noProof="0">
                <a:solidFill>
                  <a:schemeClr val="tx1"/>
                </a:solidFill>
              </a:rPr>
            </a:br>
            <a:r>
              <a:rPr lang="en-US" sz="1200" noProof="0">
                <a:solidFill>
                  <a:schemeClr val="tx1"/>
                </a:solidFill>
              </a:rPr>
              <a:t>Batches  with missing SAP mandatory data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81CD49C-DC42-7EB2-9A9E-A10CF6408B66}"/>
              </a:ext>
            </a:extLst>
          </p:cNvPr>
          <p:cNvSpPr txBox="1"/>
          <p:nvPr/>
        </p:nvSpPr>
        <p:spPr>
          <a:xfrm>
            <a:off x="-106225" y="2734630"/>
            <a:ext cx="1387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noProof="0">
                <a:highlight>
                  <a:srgbClr val="00FFFF"/>
                </a:highlight>
              </a:rPr>
              <a:t>Incomplete SAP results in  dataplatform</a:t>
            </a:r>
          </a:p>
        </p:txBody>
      </p:sp>
      <p:sp>
        <p:nvSpPr>
          <p:cNvPr id="15" name="Flèche : haut 14">
            <a:extLst>
              <a:ext uri="{FF2B5EF4-FFF2-40B4-BE49-F238E27FC236}">
                <a16:creationId xmlns:a16="http://schemas.microsoft.com/office/drawing/2014/main" id="{E1405DE5-9C76-377C-719F-D3577E865C29}"/>
              </a:ext>
            </a:extLst>
          </p:cNvPr>
          <p:cNvSpPr/>
          <p:nvPr/>
        </p:nvSpPr>
        <p:spPr>
          <a:xfrm>
            <a:off x="3427107" y="1881824"/>
            <a:ext cx="307085" cy="458819"/>
          </a:xfrm>
          <a:prstGeom prst="up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6" name="Flèche : bas 15">
            <a:extLst>
              <a:ext uri="{FF2B5EF4-FFF2-40B4-BE49-F238E27FC236}">
                <a16:creationId xmlns:a16="http://schemas.microsoft.com/office/drawing/2014/main" id="{E8F35199-6DFB-FAD2-AB84-5EDA479C01EE}"/>
              </a:ext>
            </a:extLst>
          </p:cNvPr>
          <p:cNvSpPr/>
          <p:nvPr/>
        </p:nvSpPr>
        <p:spPr>
          <a:xfrm>
            <a:off x="6195680" y="1818303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B99B3C3-B5C3-D3F2-0F1D-508CAA91FFC7}"/>
              </a:ext>
            </a:extLst>
          </p:cNvPr>
          <p:cNvSpPr txBox="1"/>
          <p:nvPr/>
        </p:nvSpPr>
        <p:spPr>
          <a:xfrm>
            <a:off x="3442808" y="2269882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BECFBA3-4C91-5642-8B32-4EEE220119F6}"/>
              </a:ext>
            </a:extLst>
          </p:cNvPr>
          <p:cNvSpPr txBox="1"/>
          <p:nvPr/>
        </p:nvSpPr>
        <p:spPr>
          <a:xfrm>
            <a:off x="6155071" y="2319182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8BF184-7AA6-2E20-1B66-03D070312287}"/>
              </a:ext>
            </a:extLst>
          </p:cNvPr>
          <p:cNvSpPr/>
          <p:nvPr/>
        </p:nvSpPr>
        <p:spPr>
          <a:xfrm>
            <a:off x="4150564" y="2734630"/>
            <a:ext cx="1980001" cy="99309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X % </a:t>
            </a:r>
            <a:br>
              <a:rPr lang="en-US" sz="1600" b="1" noProof="0">
                <a:solidFill>
                  <a:schemeClr val="tx1"/>
                </a:solidFill>
              </a:rPr>
            </a:br>
            <a:r>
              <a:rPr lang="en-US" sz="1200" noProof="0">
                <a:solidFill>
                  <a:schemeClr val="tx1"/>
                </a:solidFill>
              </a:rPr>
              <a:t>Mandatory SAP data  missing</a:t>
            </a:r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3622EE07-C7C0-BA40-2AAD-881EFD3441C0}"/>
              </a:ext>
            </a:extLst>
          </p:cNvPr>
          <p:cNvSpPr/>
          <p:nvPr/>
        </p:nvSpPr>
        <p:spPr>
          <a:xfrm>
            <a:off x="6195680" y="2895501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3F66785-D265-59E7-08DE-F45B356C4967}"/>
              </a:ext>
            </a:extLst>
          </p:cNvPr>
          <p:cNvSpPr txBox="1"/>
          <p:nvPr/>
        </p:nvSpPr>
        <p:spPr>
          <a:xfrm>
            <a:off x="6155071" y="3396380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23" name="Flèche : haut 22">
            <a:extLst>
              <a:ext uri="{FF2B5EF4-FFF2-40B4-BE49-F238E27FC236}">
                <a16:creationId xmlns:a16="http://schemas.microsoft.com/office/drawing/2014/main" id="{936B95B6-C32A-BAAA-8C26-3E14E314AF01}"/>
              </a:ext>
            </a:extLst>
          </p:cNvPr>
          <p:cNvSpPr/>
          <p:nvPr/>
        </p:nvSpPr>
        <p:spPr>
          <a:xfrm>
            <a:off x="3449818" y="2926498"/>
            <a:ext cx="307085" cy="458819"/>
          </a:xfrm>
          <a:prstGeom prst="up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69FA134-C24E-C296-F855-89F1F56A0849}"/>
              </a:ext>
            </a:extLst>
          </p:cNvPr>
          <p:cNvSpPr txBox="1"/>
          <p:nvPr/>
        </p:nvSpPr>
        <p:spPr>
          <a:xfrm>
            <a:off x="3465519" y="3314556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</p:spTree>
    <p:extLst>
      <p:ext uri="{BB962C8B-B14F-4D97-AF65-F5344CB8AC3E}">
        <p14:creationId xmlns:p14="http://schemas.microsoft.com/office/powerpoint/2010/main" val="3829294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53530-DD03-2F39-5DA1-756E135B0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ZoneTexte 17">
            <a:extLst>
              <a:ext uri="{FF2B5EF4-FFF2-40B4-BE49-F238E27FC236}">
                <a16:creationId xmlns:a16="http://schemas.microsoft.com/office/drawing/2014/main" id="{014D0CE3-9B7E-B5A9-0BB9-89B6BCD825EF}"/>
              </a:ext>
            </a:extLst>
          </p:cNvPr>
          <p:cNvSpPr txBox="1"/>
          <p:nvPr/>
        </p:nvSpPr>
        <p:spPr>
          <a:xfrm>
            <a:off x="176848" y="782711"/>
            <a:ext cx="659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/>
              <a:t>4. AI Recommendation - Focus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AD01FA52-6FAA-0094-87B9-9D207C5D75FE}"/>
              </a:ext>
            </a:extLst>
          </p:cNvPr>
          <p:cNvSpPr txBox="1"/>
          <p:nvPr/>
        </p:nvSpPr>
        <p:spPr>
          <a:xfrm>
            <a:off x="316812" y="3586905"/>
            <a:ext cx="6132187" cy="7879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t">
              <a:buNone/>
            </a:pPr>
            <a:r>
              <a:rPr lang="en-US" sz="1100" b="1" i="1" noProof="0">
                <a:latin typeface="Segoe UI" panose="020B0502040204020203" pitchFamily="34" charset="0"/>
              </a:rPr>
              <a:t>Ci-dessus les données </a:t>
            </a:r>
            <a:r>
              <a:rPr lang="en-US" sz="1100" b="1" i="1" noProof="0" err="1">
                <a:latin typeface="Segoe UI" panose="020B0502040204020203" pitchFamily="34" charset="0"/>
              </a:rPr>
              <a:t>souhaitées</a:t>
            </a:r>
            <a:r>
              <a:rPr lang="en-US" sz="1100" b="1" i="1" noProof="0">
                <a:latin typeface="Segoe UI" panose="020B0502040204020203" pitchFamily="34" charset="0"/>
              </a:rPr>
              <a:t> indispensables.</a:t>
            </a:r>
          </a:p>
          <a:p>
            <a:pPr fontAlgn="t">
              <a:buNone/>
            </a:pPr>
            <a:endParaRPr lang="en-US" sz="1100" b="1" i="1" noProof="0">
              <a:latin typeface="Segoe UI" panose="020B0502040204020203" pitchFamily="34" charset="0"/>
            </a:endParaRPr>
          </a:p>
          <a:p>
            <a:pPr fontAlgn="t">
              <a:buNone/>
            </a:pPr>
            <a:endParaRPr lang="en-US" sz="1100" b="1" i="1" noProof="0">
              <a:highlight>
                <a:srgbClr val="FFFF00"/>
              </a:highlight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u="sng" noProof="0" err="1">
                <a:latin typeface="Segoe UI" panose="020B0502040204020203" pitchFamily="34" charset="0"/>
              </a:rPr>
              <a:t>Précisions</a:t>
            </a:r>
            <a:r>
              <a:rPr lang="en-US" sz="1100" b="1" u="sng" noProof="0">
                <a:latin typeface="Segoe UI" panose="020B0502040204020203" pitchFamily="34" charset="0"/>
              </a:rPr>
              <a:t> sur </a:t>
            </a:r>
            <a:r>
              <a:rPr lang="en-US" sz="1100" b="1" u="sng" noProof="0" err="1">
                <a:latin typeface="Segoe UI" panose="020B0502040204020203" pitchFamily="34" charset="0"/>
              </a:rPr>
              <a:t>chaque</a:t>
            </a:r>
            <a:r>
              <a:rPr lang="en-US" sz="1100" b="1" u="sng" noProof="0">
                <a:latin typeface="Segoe UI" panose="020B0502040204020203" pitchFamily="34" charset="0"/>
              </a:rPr>
              <a:t> data :</a:t>
            </a:r>
          </a:p>
          <a:p>
            <a:pPr fontAlgn="t">
              <a:buNone/>
            </a:pPr>
            <a:endParaRPr lang="en-US" sz="1100" noProof="0">
              <a:highlight>
                <a:srgbClr val="FFFF00"/>
              </a:highlight>
              <a:latin typeface="Segoe UI" panose="020B0502040204020203" pitchFamily="34" charset="0"/>
            </a:endParaRPr>
          </a:p>
          <a:p>
            <a:pPr fontAlgn="t"/>
            <a:r>
              <a:rPr lang="en-US" sz="1100" b="1" noProof="0">
                <a:latin typeface="Segoe UI" panose="020B0502040204020203" pitchFamily="34" charset="0"/>
              </a:rPr>
              <a:t>% Available recommendations</a:t>
            </a:r>
            <a:br>
              <a:rPr lang="en-US" sz="1100" b="1" noProof="0">
                <a:latin typeface="Segoe UI" panose="020B0502040204020203" pitchFamily="34" charset="0"/>
              </a:rPr>
            </a:br>
            <a:r>
              <a:rPr lang="en-US" sz="1100" noProof="0">
                <a:latin typeface="Segoe UI" panose="020B0502040204020203" pitchFamily="34" charset="0"/>
              </a:rPr>
              <a:t>Info déjà </a:t>
            </a:r>
            <a:r>
              <a:rPr lang="en-US" sz="1100" noProof="0" err="1">
                <a:latin typeface="Segoe UI" panose="020B0502040204020203" pitchFamily="34" charset="0"/>
              </a:rPr>
              <a:t>calculée</a:t>
            </a:r>
            <a:r>
              <a:rPr lang="en-US" sz="1100" noProof="0">
                <a:latin typeface="Segoe UI" panose="020B0502040204020203" pitchFamily="34" charset="0"/>
              </a:rPr>
              <a:t> dans </a:t>
            </a:r>
            <a:r>
              <a:rPr lang="en-US" sz="1100" noProof="0" err="1">
                <a:latin typeface="Segoe UI" panose="020B0502040204020203" pitchFamily="34" charset="0"/>
              </a:rPr>
              <a:t>plusieurs</a:t>
            </a:r>
            <a:r>
              <a:rPr lang="en-US" sz="1100" noProof="0">
                <a:latin typeface="Segoe UI" panose="020B0502040204020203" pitchFamily="34" charset="0"/>
              </a:rPr>
              <a:t> dashboards </a:t>
            </a:r>
            <a:r>
              <a:rPr lang="en-US" sz="1100" noProof="0" err="1">
                <a:latin typeface="Segoe UI" panose="020B0502040204020203" pitchFamily="34" charset="0"/>
              </a:rPr>
              <a:t>dont</a:t>
            </a:r>
            <a:r>
              <a:rPr lang="en-US" sz="1100" noProof="0">
                <a:latin typeface="Segoe UI" panose="020B0502040204020203" pitchFamily="34" charset="0"/>
              </a:rPr>
              <a:t> : </a:t>
            </a:r>
            <a:r>
              <a:rPr lang="en-US" sz="1100" noProof="0">
                <a:latin typeface="Segoe UI" panose="020B0502040204020203" pitchFamily="34" charset="0"/>
                <a:hlinkClick r:id="rId3"/>
              </a:rPr>
              <a:t>https://app.powerbi.com/Overview</a:t>
            </a:r>
            <a:endParaRPr lang="en-US" sz="1100" noProof="0">
              <a:latin typeface="Segoe UI" panose="020B0502040204020203" pitchFamily="34" charset="0"/>
            </a:endParaRPr>
          </a:p>
          <a:p>
            <a:pPr fontAlgn="t"/>
            <a:br>
              <a:rPr lang="en-US" sz="1100" b="1" noProof="0">
                <a:highlight>
                  <a:srgbClr val="FFFF00"/>
                </a:highlight>
                <a:latin typeface="Segoe UI" panose="020B0502040204020203" pitchFamily="34" charset="0"/>
              </a:rPr>
            </a:br>
            <a:br>
              <a:rPr lang="en-US" sz="1100" b="1" noProof="0">
                <a:latin typeface="Segoe UI" panose="020B0502040204020203" pitchFamily="34" charset="0"/>
              </a:rPr>
            </a:br>
            <a:r>
              <a:rPr lang="en-US" sz="1100" b="1" noProof="0">
                <a:latin typeface="Segoe UI" panose="020B0502040204020203" pitchFamily="34" charset="0"/>
              </a:rPr>
              <a:t>% declared applied recommendations</a:t>
            </a:r>
          </a:p>
          <a:p>
            <a:pPr fontAlgn="t"/>
            <a:r>
              <a:rPr lang="en-US" sz="1100" noProof="0">
                <a:latin typeface="Segoe UI" panose="020B0502040204020203" pitchFamily="34" charset="0"/>
              </a:rPr>
              <a:t>Info déjà </a:t>
            </a:r>
            <a:r>
              <a:rPr lang="en-US" sz="1100" noProof="0" err="1">
                <a:latin typeface="Segoe UI" panose="020B0502040204020203" pitchFamily="34" charset="0"/>
              </a:rPr>
              <a:t>calculée</a:t>
            </a:r>
            <a:r>
              <a:rPr lang="en-US" sz="1100" noProof="0">
                <a:latin typeface="Segoe UI" panose="020B0502040204020203" pitchFamily="34" charset="0"/>
              </a:rPr>
              <a:t> dans </a:t>
            </a:r>
            <a:r>
              <a:rPr lang="en-US" sz="1100" noProof="0" err="1">
                <a:latin typeface="Segoe UI" panose="020B0502040204020203" pitchFamily="34" charset="0"/>
              </a:rPr>
              <a:t>plusieurs</a:t>
            </a:r>
            <a:r>
              <a:rPr lang="en-US" sz="1100" noProof="0">
                <a:latin typeface="Segoe UI" panose="020B0502040204020203" pitchFamily="34" charset="0"/>
              </a:rPr>
              <a:t> dashboards </a:t>
            </a:r>
            <a:r>
              <a:rPr lang="en-US" sz="1100" noProof="0" err="1">
                <a:latin typeface="Segoe UI" panose="020B0502040204020203" pitchFamily="34" charset="0"/>
              </a:rPr>
              <a:t>dont</a:t>
            </a:r>
            <a:r>
              <a:rPr lang="en-US" sz="1100" noProof="0">
                <a:latin typeface="Segoe UI" panose="020B0502040204020203" pitchFamily="34" charset="0"/>
              </a:rPr>
              <a:t> : </a:t>
            </a:r>
            <a:r>
              <a:rPr lang="en-US" sz="1100" noProof="0">
                <a:latin typeface="Segoe UI" panose="020B0502040204020203" pitchFamily="34" charset="0"/>
                <a:hlinkClick r:id="rId4"/>
              </a:rPr>
              <a:t>https://app.powerbi.com/calculation of applied </a:t>
            </a:r>
            <a:r>
              <a:rPr lang="en-US" sz="1100" noProof="0" err="1">
                <a:latin typeface="Segoe UI" panose="020B0502040204020203" pitchFamily="34" charset="0"/>
                <a:hlinkClick r:id="rId4"/>
              </a:rPr>
              <a:t>recommandations</a:t>
            </a:r>
            <a:endParaRPr lang="en-US" sz="1100" noProof="0">
              <a:latin typeface="Segoe UI" panose="020B0502040204020203" pitchFamily="34" charset="0"/>
            </a:endParaRPr>
          </a:p>
          <a:p>
            <a:pPr fontAlgn="t"/>
            <a:endParaRPr lang="en-US" sz="1100" noProof="0">
              <a:latin typeface="Segoe UI" panose="020B0502040204020203" pitchFamily="34" charset="0"/>
            </a:endParaRPr>
          </a:p>
          <a:p>
            <a:pPr fontAlgn="t"/>
            <a:endParaRPr lang="en-US" sz="1100" noProof="0">
              <a:latin typeface="Segoe UI" panose="020B0502040204020203" pitchFamily="34" charset="0"/>
            </a:endParaRPr>
          </a:p>
          <a:p>
            <a:pPr fontAlgn="t"/>
            <a:r>
              <a:rPr lang="en-US" sz="1100" b="1" noProof="0">
                <a:latin typeface="Segoe UI" panose="020B0502040204020203" pitchFamily="34" charset="0"/>
              </a:rPr>
              <a:t>% Spec‑compliant AI recommendations</a:t>
            </a:r>
            <a:br>
              <a:rPr lang="en-US" sz="1100" b="1" noProof="0">
                <a:latin typeface="Segoe UI" panose="020B0502040204020203" pitchFamily="34" charset="0"/>
              </a:rPr>
            </a:br>
            <a:r>
              <a:rPr lang="en-US" sz="1100" noProof="0">
                <a:latin typeface="Segoe UI" panose="020B0502040204020203" pitchFamily="34" charset="0"/>
              </a:rPr>
              <a:t>Nombre de </a:t>
            </a:r>
            <a:r>
              <a:rPr lang="en-US" sz="1100" noProof="0" err="1">
                <a:latin typeface="Segoe UI" panose="020B0502040204020203" pitchFamily="34" charset="0"/>
              </a:rPr>
              <a:t>recommandations</a:t>
            </a:r>
            <a:r>
              <a:rPr lang="en-US" sz="1100" noProof="0">
                <a:latin typeface="Segoe UI" panose="020B0502040204020203" pitchFamily="34" charset="0"/>
              </a:rPr>
              <a:t> dans les </a:t>
            </a:r>
            <a:r>
              <a:rPr lang="en-US" sz="1100" noProof="0" err="1">
                <a:latin typeface="Segoe UI" panose="020B0502040204020203" pitchFamily="34" charset="0"/>
              </a:rPr>
              <a:t>bornes</a:t>
            </a:r>
            <a:r>
              <a:rPr lang="en-US" sz="1100" noProof="0">
                <a:latin typeface="Segoe UI" panose="020B0502040204020203" pitchFamily="34" charset="0"/>
              </a:rPr>
              <a:t> IA à 100% (les 5 </a:t>
            </a:r>
            <a:r>
              <a:rPr lang="en-US" sz="1100" noProof="0" err="1">
                <a:latin typeface="Segoe UI" panose="020B0502040204020203" pitchFamily="34" charset="0"/>
              </a:rPr>
              <a:t>critères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qualités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sont</a:t>
            </a:r>
            <a:r>
              <a:rPr lang="en-US" sz="1100" noProof="0">
                <a:latin typeface="Segoe UI" panose="020B0502040204020203" pitchFamily="34" charset="0"/>
              </a:rPr>
              <a:t> dans les </a:t>
            </a:r>
            <a:r>
              <a:rPr lang="en-US" sz="1100" noProof="0" err="1">
                <a:latin typeface="Segoe UI" panose="020B0502040204020203" pitchFamily="34" charset="0"/>
              </a:rPr>
              <a:t>bornes</a:t>
            </a:r>
            <a:r>
              <a:rPr lang="en-US" sz="1100" noProof="0">
                <a:latin typeface="Segoe UI" panose="020B0502040204020203" pitchFamily="34" charset="0"/>
              </a:rPr>
              <a:t>) </a:t>
            </a:r>
            <a:r>
              <a:rPr lang="en-US" sz="1100" noProof="0" err="1">
                <a:latin typeface="Segoe UI" panose="020B0502040204020203" pitchFamily="34" charset="0"/>
              </a:rPr>
              <a:t>divisé</a:t>
            </a:r>
            <a:r>
              <a:rPr lang="en-US" sz="1100" noProof="0">
                <a:latin typeface="Segoe UI" panose="020B0502040204020203" pitchFamily="34" charset="0"/>
              </a:rPr>
              <a:t> par </a:t>
            </a:r>
            <a:r>
              <a:rPr lang="en-US" sz="1100" noProof="0" err="1">
                <a:latin typeface="Segoe UI" panose="020B0502040204020203" pitchFamily="34" charset="0"/>
              </a:rPr>
              <a:t>nombres</a:t>
            </a:r>
            <a:r>
              <a:rPr lang="en-US" sz="1100" noProof="0">
                <a:latin typeface="Segoe UI" panose="020B0502040204020203" pitchFamily="34" charset="0"/>
              </a:rPr>
              <a:t> total de </a:t>
            </a:r>
            <a:r>
              <a:rPr lang="en-US" sz="1100" noProof="0" err="1">
                <a:latin typeface="Segoe UI" panose="020B0502040204020203" pitchFamily="34" charset="0"/>
              </a:rPr>
              <a:t>recommandations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disponibles</a:t>
            </a:r>
            <a:r>
              <a:rPr lang="en-US" sz="1100" noProof="0">
                <a:latin typeface="Segoe UI" panose="020B0502040204020203" pitchFamily="34" charset="0"/>
              </a:rPr>
              <a:t>.</a:t>
            </a:r>
            <a:br>
              <a:rPr lang="en-US" sz="1100" noProof="0">
                <a:latin typeface="Segoe UI" panose="020B0502040204020203" pitchFamily="34" charset="0"/>
              </a:rPr>
            </a:br>
            <a:br>
              <a:rPr lang="en-US" sz="1100" noProof="0">
                <a:latin typeface="Segoe UI" panose="020B0502040204020203" pitchFamily="34" charset="0"/>
              </a:rPr>
            </a:br>
            <a:r>
              <a:rPr lang="en-US" sz="1100" noProof="0" err="1">
                <a:latin typeface="Segoe UI" panose="020B0502040204020203" pitchFamily="34" charset="0"/>
              </a:rPr>
              <a:t>Informations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disponibles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mais</a:t>
            </a:r>
            <a:r>
              <a:rPr lang="en-US" sz="1100" noProof="0">
                <a:latin typeface="Segoe UI" panose="020B0502040204020203" pitchFamily="34" charset="0"/>
              </a:rPr>
              <a:t> à </a:t>
            </a:r>
            <a:r>
              <a:rPr lang="en-US" sz="1100" noProof="0" err="1">
                <a:latin typeface="Segoe UI" panose="020B0502040204020203" pitchFamily="34" charset="0"/>
              </a:rPr>
              <a:t>calculer</a:t>
            </a:r>
            <a:r>
              <a:rPr lang="en-US" sz="1100" noProof="0">
                <a:latin typeface="Segoe UI" panose="020B0502040204020203" pitchFamily="34" charset="0"/>
              </a:rPr>
              <a:t> à </a:t>
            </a:r>
            <a:r>
              <a:rPr lang="en-US" sz="1100" noProof="0" err="1">
                <a:latin typeface="Segoe UI" panose="020B0502040204020203" pitchFamily="34" charset="0"/>
              </a:rPr>
              <a:t>partir</a:t>
            </a:r>
            <a:r>
              <a:rPr lang="en-US" sz="1100" noProof="0">
                <a:latin typeface="Segoe UI" panose="020B0502040204020203" pitchFamily="34" charset="0"/>
              </a:rPr>
              <a:t> de </a:t>
            </a:r>
            <a:r>
              <a:rPr lang="en-US" sz="1100" noProof="0" err="1">
                <a:latin typeface="Segoe UI" panose="020B0502040204020203" pitchFamily="34" charset="0"/>
              </a:rPr>
              <a:t>ce</a:t>
            </a:r>
            <a:r>
              <a:rPr lang="en-US" sz="1100" noProof="0">
                <a:latin typeface="Segoe UI" panose="020B0502040204020203" pitchFamily="34" charset="0"/>
              </a:rPr>
              <a:t> dashboard : </a:t>
            </a:r>
            <a:r>
              <a:rPr lang="en-US" sz="1100" b="1" noProof="0">
                <a:latin typeface="Segoe UI" panose="020B0502040204020203" pitchFamily="34" charset="0"/>
                <a:hlinkClick r:id="rId5"/>
              </a:rPr>
              <a:t>https://app.powerbi.com/Batch overview</a:t>
            </a:r>
            <a:endParaRPr lang="en-US" sz="1100" b="1" noProof="0">
              <a:latin typeface="Segoe UI" panose="020B0502040204020203" pitchFamily="34" charset="0"/>
            </a:endParaRPr>
          </a:p>
          <a:p>
            <a:pPr fontAlgn="t"/>
            <a:endParaRPr lang="en-US" sz="1100" b="1" noProof="0">
              <a:latin typeface="Segoe UI" panose="020B0502040204020203" pitchFamily="34" charset="0"/>
            </a:endParaRPr>
          </a:p>
          <a:p>
            <a:pPr fontAlgn="t"/>
            <a:endParaRPr lang="en-US" sz="1100" b="1" noProof="0">
              <a:latin typeface="Segoe UI" panose="020B0502040204020203" pitchFamily="34" charset="0"/>
            </a:endParaRPr>
          </a:p>
          <a:p>
            <a:pPr fontAlgn="t"/>
            <a:r>
              <a:rPr lang="en-US" sz="1100" b="1" noProof="0">
                <a:latin typeface="Segoe UI" panose="020B0502040204020203" pitchFamily="34" charset="0"/>
              </a:rPr>
              <a:t>Spec‑compliant output batches</a:t>
            </a:r>
          </a:p>
          <a:p>
            <a:pPr fontAlgn="t"/>
            <a:r>
              <a:rPr lang="en-US" sz="1100" noProof="0">
                <a:latin typeface="Segoe UI" panose="020B0502040204020203" pitchFamily="34" charset="0"/>
              </a:rPr>
              <a:t>Nombre de </a:t>
            </a:r>
            <a:r>
              <a:rPr lang="en-US" sz="1100" noProof="0" err="1">
                <a:latin typeface="Segoe UI" panose="020B0502040204020203" pitchFamily="34" charset="0"/>
              </a:rPr>
              <a:t>batchs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en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statut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terminé</a:t>
            </a:r>
            <a:r>
              <a:rPr lang="en-US" sz="1100" noProof="0">
                <a:latin typeface="Segoe UI" panose="020B0502040204020203" pitchFamily="34" charset="0"/>
              </a:rPr>
              <a:t> avec les </a:t>
            </a:r>
            <a:r>
              <a:rPr lang="en-US" sz="1100" noProof="0" err="1">
                <a:latin typeface="Segoe UI" panose="020B0502040204020203" pitchFamily="34" charset="0"/>
              </a:rPr>
              <a:t>qualités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réelles</a:t>
            </a:r>
            <a:r>
              <a:rPr lang="en-US" sz="1100" noProof="0">
                <a:latin typeface="Segoe UI" panose="020B0502040204020203" pitchFamily="34" charset="0"/>
              </a:rPr>
              <a:t> de sortie dans les </a:t>
            </a:r>
            <a:r>
              <a:rPr lang="en-US" sz="1100" noProof="0" err="1">
                <a:latin typeface="Segoe UI" panose="020B0502040204020203" pitchFamily="34" charset="0"/>
              </a:rPr>
              <a:t>bornes</a:t>
            </a:r>
            <a:r>
              <a:rPr lang="en-US" sz="1100" noProof="0">
                <a:latin typeface="Segoe UI" panose="020B0502040204020203" pitchFamily="34" charset="0"/>
              </a:rPr>
              <a:t> IA à 100% (les 5 </a:t>
            </a:r>
            <a:r>
              <a:rPr lang="en-US" sz="1100" noProof="0" err="1">
                <a:latin typeface="Segoe UI" panose="020B0502040204020203" pitchFamily="34" charset="0"/>
              </a:rPr>
              <a:t>critères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qualités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sont</a:t>
            </a:r>
            <a:r>
              <a:rPr lang="en-US" sz="1100" noProof="0">
                <a:latin typeface="Segoe UI" panose="020B0502040204020203" pitchFamily="34" charset="0"/>
              </a:rPr>
              <a:t> dans les </a:t>
            </a:r>
            <a:r>
              <a:rPr lang="en-US" sz="1100" noProof="0" err="1">
                <a:latin typeface="Segoe UI" panose="020B0502040204020203" pitchFamily="34" charset="0"/>
              </a:rPr>
              <a:t>bornes</a:t>
            </a:r>
            <a:r>
              <a:rPr lang="en-US" sz="1100" noProof="0">
                <a:latin typeface="Segoe UI" panose="020B0502040204020203" pitchFamily="34" charset="0"/>
              </a:rPr>
              <a:t>) </a:t>
            </a:r>
            <a:r>
              <a:rPr lang="en-US" sz="1100" noProof="0" err="1">
                <a:latin typeface="Segoe UI" panose="020B0502040204020203" pitchFamily="34" charset="0"/>
              </a:rPr>
              <a:t>divisé</a:t>
            </a:r>
            <a:r>
              <a:rPr lang="en-US" sz="1100" noProof="0">
                <a:latin typeface="Segoe UI" panose="020B0502040204020203" pitchFamily="34" charset="0"/>
              </a:rPr>
              <a:t> par </a:t>
            </a:r>
            <a:r>
              <a:rPr lang="en-US" sz="1100" noProof="0" err="1">
                <a:latin typeface="Segoe UI" panose="020B0502040204020203" pitchFamily="34" charset="0"/>
              </a:rPr>
              <a:t>nombres</a:t>
            </a:r>
            <a:r>
              <a:rPr lang="en-US" sz="1100" noProof="0">
                <a:latin typeface="Segoe UI" panose="020B0502040204020203" pitchFamily="34" charset="0"/>
              </a:rPr>
              <a:t> total de </a:t>
            </a:r>
            <a:r>
              <a:rPr lang="en-US" sz="1100" noProof="0" err="1">
                <a:latin typeface="Segoe UI" panose="020B0502040204020203" pitchFamily="34" charset="0"/>
              </a:rPr>
              <a:t>batchs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en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statut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terminé</a:t>
            </a:r>
            <a:r>
              <a:rPr lang="en-US" sz="1100" noProof="0">
                <a:latin typeface="Segoe UI" panose="020B0502040204020203" pitchFamily="34" charset="0"/>
              </a:rPr>
              <a:t>.</a:t>
            </a:r>
            <a:br>
              <a:rPr lang="en-US" sz="1100" noProof="0">
                <a:latin typeface="Segoe UI" panose="020B0502040204020203" pitchFamily="34" charset="0"/>
              </a:rPr>
            </a:br>
            <a:br>
              <a:rPr lang="en-US" sz="1100" noProof="0">
                <a:latin typeface="Segoe UI" panose="020B0502040204020203" pitchFamily="34" charset="0"/>
              </a:rPr>
            </a:br>
            <a:r>
              <a:rPr lang="en-US" sz="1100" noProof="0" err="1">
                <a:latin typeface="Segoe UI" panose="020B0502040204020203" pitchFamily="34" charset="0"/>
              </a:rPr>
              <a:t>Informations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disponibles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mais</a:t>
            </a:r>
            <a:r>
              <a:rPr lang="en-US" sz="1100" noProof="0">
                <a:latin typeface="Segoe UI" panose="020B0502040204020203" pitchFamily="34" charset="0"/>
              </a:rPr>
              <a:t> à </a:t>
            </a:r>
            <a:r>
              <a:rPr lang="en-US" sz="1100" noProof="0" err="1">
                <a:latin typeface="Segoe UI" panose="020B0502040204020203" pitchFamily="34" charset="0"/>
              </a:rPr>
              <a:t>calculer</a:t>
            </a:r>
            <a:r>
              <a:rPr lang="en-US" sz="1100" noProof="0">
                <a:latin typeface="Segoe UI" panose="020B0502040204020203" pitchFamily="34" charset="0"/>
              </a:rPr>
              <a:t> à </a:t>
            </a:r>
            <a:r>
              <a:rPr lang="en-US" sz="1100" noProof="0" err="1">
                <a:latin typeface="Segoe UI" panose="020B0502040204020203" pitchFamily="34" charset="0"/>
              </a:rPr>
              <a:t>partir</a:t>
            </a:r>
            <a:r>
              <a:rPr lang="en-US" sz="1100" noProof="0">
                <a:latin typeface="Segoe UI" panose="020B0502040204020203" pitchFamily="34" charset="0"/>
              </a:rPr>
              <a:t> de </a:t>
            </a:r>
            <a:r>
              <a:rPr lang="en-US" sz="1100" noProof="0" err="1">
                <a:latin typeface="Segoe UI" panose="020B0502040204020203" pitchFamily="34" charset="0"/>
              </a:rPr>
              <a:t>ce</a:t>
            </a:r>
            <a:r>
              <a:rPr lang="en-US" sz="1100" noProof="0">
                <a:latin typeface="Segoe UI" panose="020B0502040204020203" pitchFamily="34" charset="0"/>
              </a:rPr>
              <a:t> dashboard : </a:t>
            </a:r>
            <a:r>
              <a:rPr lang="en-US" sz="1100" b="1" noProof="0">
                <a:latin typeface="Segoe UI" panose="020B0502040204020203" pitchFamily="34" charset="0"/>
                <a:hlinkClick r:id="rId5"/>
              </a:rPr>
              <a:t>https://app.powerbi.com/Batch overview</a:t>
            </a:r>
            <a:endParaRPr lang="en-US" sz="1100" b="1" noProof="0">
              <a:latin typeface="Segoe UI" panose="020B0502040204020203" pitchFamily="34" charset="0"/>
            </a:endParaRPr>
          </a:p>
          <a:p>
            <a:pPr fontAlgn="t"/>
            <a:endParaRPr lang="en-US" sz="1100" b="1" noProof="0">
              <a:latin typeface="Segoe UI" panose="020B0502040204020203" pitchFamily="34" charset="0"/>
            </a:endParaRPr>
          </a:p>
          <a:p>
            <a:pPr marL="171450" indent="-171450" fontAlgn="t">
              <a:buFont typeface="Wingdings" panose="05000000000000000000" pitchFamily="2" charset="2"/>
              <a:buChar char="à"/>
            </a:pP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Quid des </a:t>
            </a:r>
            <a:r>
              <a:rPr lang="en-US" sz="1100" noProof="0" err="1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batchs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en-US" sz="1100" noProof="0" err="1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dont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 nous ne </a:t>
            </a:r>
            <a:r>
              <a:rPr lang="en-US" sz="1100" noProof="0" err="1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possédons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 pas du tout les </a:t>
            </a:r>
            <a:r>
              <a:rPr lang="en-US" sz="1100" noProof="0" err="1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critères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en-US" sz="1100" noProof="0" err="1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qualités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en-US" sz="1100" noProof="0" err="1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ou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en-US" sz="1100" noProof="0" err="1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partiellement</a:t>
            </a:r>
            <a: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 ?</a:t>
            </a:r>
            <a:br>
              <a:rPr lang="en-US" sz="1100" noProof="0">
                <a:highlight>
                  <a:srgbClr val="FFFF00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</a:b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A </a:t>
            </a:r>
            <a:r>
              <a:rPr lang="en-US" sz="1100" noProof="0" err="1">
                <a:highlight>
                  <a:srgbClr val="00FFFF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estimer</a:t>
            </a: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 DE </a:t>
            </a:r>
            <a:r>
              <a:rPr lang="en-US" sz="1100" noProof="0" err="1">
                <a:highlight>
                  <a:srgbClr val="00FFFF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nombre</a:t>
            </a: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 de couches </a:t>
            </a:r>
            <a:r>
              <a:rPr lang="en-US" sz="1100" noProof="0" err="1">
                <a:highlight>
                  <a:srgbClr val="00FFFF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concernées</a:t>
            </a:r>
            <a:r>
              <a:rPr lang="en-US" sz="1100" noProof="0">
                <a:highlight>
                  <a:srgbClr val="00FFFF"/>
                </a:highlight>
                <a:latin typeface="Segoe UI" panose="020B0502040204020203" pitchFamily="34" charset="0"/>
                <a:sym typeface="Wingdings" panose="05000000000000000000" pitchFamily="2" charset="2"/>
              </a:rPr>
              <a:t> ?</a:t>
            </a:r>
          </a:p>
          <a:p>
            <a:pPr marL="171450" indent="-171450" fontAlgn="t">
              <a:buFont typeface="Wingdings" panose="05000000000000000000" pitchFamily="2" charset="2"/>
              <a:buChar char="à"/>
            </a:pPr>
            <a:endParaRPr lang="en-US" sz="1100" noProof="0">
              <a:latin typeface="Segoe UI" panose="020B0502040204020203" pitchFamily="34" charset="0"/>
              <a:sym typeface="Wingdings" panose="05000000000000000000" pitchFamily="2" charset="2"/>
            </a:endParaRPr>
          </a:p>
          <a:p>
            <a:pPr fontAlgn="t"/>
            <a:r>
              <a:rPr lang="en-US" sz="1100" b="1" noProof="0">
                <a:latin typeface="Segoe UI" panose="020B0502040204020203" pitchFamily="34" charset="0"/>
              </a:rPr>
              <a:t>Average AI malt yield (R2)</a:t>
            </a:r>
          </a:p>
          <a:p>
            <a:pPr fontAlgn="t"/>
            <a:r>
              <a:rPr lang="en-US" sz="1100" noProof="0">
                <a:latin typeface="Segoe UI" panose="020B0502040204020203" pitchFamily="34" charset="0"/>
              </a:rPr>
              <a:t>Moyenne du </a:t>
            </a:r>
            <a:r>
              <a:rPr lang="en-US" sz="1100" noProof="0" err="1">
                <a:latin typeface="Segoe UI" panose="020B0502040204020203" pitchFamily="34" charset="0"/>
              </a:rPr>
              <a:t>rendement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humide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reco</a:t>
            </a:r>
            <a:r>
              <a:rPr lang="en-US" sz="1100" noProof="0">
                <a:latin typeface="Segoe UI" panose="020B0502040204020203" pitchFamily="34" charset="0"/>
              </a:rPr>
              <a:t> IA </a:t>
            </a:r>
            <a:r>
              <a:rPr lang="en-US" sz="1100" noProof="0" err="1">
                <a:latin typeface="Segoe UI" panose="020B0502040204020203" pitchFamily="34" charset="0"/>
              </a:rPr>
              <a:t>uniquement</a:t>
            </a:r>
            <a:r>
              <a:rPr lang="en-US" sz="1100" noProof="0">
                <a:latin typeface="Segoe UI" panose="020B0502040204020203" pitchFamily="34" charset="0"/>
              </a:rPr>
              <a:t> les couches </a:t>
            </a:r>
            <a:r>
              <a:rPr lang="en-US" sz="1100" noProof="0" err="1">
                <a:latin typeface="Segoe UI" panose="020B0502040204020203" pitchFamily="34" charset="0"/>
              </a:rPr>
              <a:t>terminées</a:t>
            </a:r>
            <a:r>
              <a:rPr lang="en-US" sz="1100" noProof="0">
                <a:latin typeface="Segoe UI" panose="020B0502040204020203" pitchFamily="34" charset="0"/>
              </a:rPr>
              <a:t> et prendre la première </a:t>
            </a:r>
            <a:r>
              <a:rPr lang="en-US" sz="1100" noProof="0" err="1">
                <a:latin typeface="Segoe UI" panose="020B0502040204020203" pitchFamily="34" charset="0"/>
              </a:rPr>
              <a:t>reco</a:t>
            </a:r>
            <a:r>
              <a:rPr lang="en-US" sz="1100" noProof="0">
                <a:latin typeface="Segoe UI" panose="020B0502040204020203" pitchFamily="34" charset="0"/>
              </a:rPr>
              <a:t> de </a:t>
            </a:r>
            <a:r>
              <a:rPr lang="en-US" sz="1100" noProof="0" err="1">
                <a:latin typeface="Segoe UI" panose="020B0502040204020203" pitchFamily="34" charset="0"/>
              </a:rPr>
              <a:t>trempe</a:t>
            </a:r>
            <a:r>
              <a:rPr lang="en-US" sz="1100" noProof="0">
                <a:latin typeface="Segoe UI" panose="020B0502040204020203" pitchFamily="34" charset="0"/>
              </a:rPr>
              <a:t> pour </a:t>
            </a:r>
            <a:r>
              <a:rPr lang="en-US" sz="1100" noProof="0" err="1">
                <a:latin typeface="Segoe UI" panose="020B0502040204020203" pitchFamily="34" charset="0"/>
              </a:rPr>
              <a:t>tous</a:t>
            </a:r>
            <a:r>
              <a:rPr lang="en-US" sz="1100" noProof="0">
                <a:latin typeface="Segoe UI" panose="020B0502040204020203" pitchFamily="34" charset="0"/>
              </a:rPr>
              <a:t> les sites </a:t>
            </a:r>
            <a:r>
              <a:rPr lang="en-US" sz="1100" noProof="0" err="1">
                <a:latin typeface="Segoe UI" panose="020B0502040204020203" pitchFamily="34" charset="0"/>
              </a:rPr>
              <a:t>sauf</a:t>
            </a:r>
            <a:r>
              <a:rPr lang="en-US" sz="1100" noProof="0">
                <a:latin typeface="Segoe UI" panose="020B0502040204020203" pitchFamily="34" charset="0"/>
              </a:rPr>
              <a:t> Buzau prendre la 1</a:t>
            </a:r>
            <a:r>
              <a:rPr lang="en-US" sz="1100" baseline="30000" noProof="0">
                <a:latin typeface="Segoe UI" panose="020B0502040204020203" pitchFamily="34" charset="0"/>
              </a:rPr>
              <a:t>ère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reco</a:t>
            </a:r>
            <a:r>
              <a:rPr lang="en-US" sz="1100" noProof="0">
                <a:latin typeface="Segoe UI" panose="020B0502040204020203" pitchFamily="34" charset="0"/>
              </a:rPr>
              <a:t> de germination. Ne pas </a:t>
            </a:r>
            <a:r>
              <a:rPr lang="en-US" sz="1100" noProof="0" err="1">
                <a:latin typeface="Segoe UI" panose="020B0502040204020203" pitchFamily="34" charset="0"/>
              </a:rPr>
              <a:t>considérer</a:t>
            </a:r>
            <a:r>
              <a:rPr lang="en-US" sz="1100" noProof="0">
                <a:latin typeface="Segoe UI" panose="020B0502040204020203" pitchFamily="34" charset="0"/>
              </a:rPr>
              <a:t> les autres </a:t>
            </a:r>
            <a:r>
              <a:rPr lang="en-US" sz="1100" noProof="0" err="1">
                <a:latin typeface="Segoe UI" panose="020B0502040204020203" pitchFamily="34" charset="0"/>
              </a:rPr>
              <a:t>recos</a:t>
            </a:r>
            <a:r>
              <a:rPr lang="en-US" sz="1100" noProof="0">
                <a:latin typeface="Segoe UI" panose="020B0502040204020203" pitchFamily="34" charset="0"/>
              </a:rPr>
              <a:t>. (1 </a:t>
            </a:r>
            <a:r>
              <a:rPr lang="en-US" sz="1100" noProof="0" err="1">
                <a:latin typeface="Segoe UI" panose="020B0502040204020203" pitchFamily="34" charset="0"/>
              </a:rPr>
              <a:t>reco</a:t>
            </a:r>
            <a:r>
              <a:rPr lang="en-US" sz="1100" noProof="0">
                <a:latin typeface="Segoe UI" panose="020B0502040204020203" pitchFamily="34" charset="0"/>
              </a:rPr>
              <a:t> par batch) Et </a:t>
            </a:r>
            <a:r>
              <a:rPr lang="en-US" sz="1100" noProof="0" err="1">
                <a:latin typeface="Segoe UI" panose="020B0502040204020203" pitchFamily="34" charset="0"/>
              </a:rPr>
              <a:t>exclure</a:t>
            </a:r>
            <a:r>
              <a:rPr lang="en-US" sz="1100" noProof="0">
                <a:latin typeface="Segoe UI" panose="020B0502040204020203" pitchFamily="34" charset="0"/>
              </a:rPr>
              <a:t> les autres </a:t>
            </a:r>
            <a:r>
              <a:rPr lang="en-US" sz="1100" noProof="0" err="1">
                <a:latin typeface="Segoe UI" panose="020B0502040204020203" pitchFamily="34" charset="0"/>
              </a:rPr>
              <a:t>recos</a:t>
            </a:r>
            <a:r>
              <a:rPr lang="en-US" sz="1100" noProof="0">
                <a:latin typeface="Segoe UI" panose="020B0502040204020203" pitchFamily="34" charset="0"/>
              </a:rPr>
              <a:t>.</a:t>
            </a:r>
          </a:p>
          <a:p>
            <a:pPr fontAlgn="t"/>
            <a:endParaRPr lang="en-US" sz="1100" b="1" noProof="0"/>
          </a:p>
          <a:p>
            <a:pPr fontAlgn="t"/>
            <a:r>
              <a:rPr lang="en-US" sz="1100" b="1" noProof="0">
                <a:latin typeface="Segoe UI" panose="020B0502040204020203" pitchFamily="34" charset="0"/>
              </a:rPr>
              <a:t>Average Real malt yield (R2)</a:t>
            </a:r>
          </a:p>
          <a:p>
            <a:pPr fontAlgn="t"/>
            <a:r>
              <a:rPr lang="en-US" sz="1100" noProof="0">
                <a:latin typeface="Segoe UI" panose="020B0502040204020203" pitchFamily="34" charset="0"/>
              </a:rPr>
              <a:t>Moyenne du </a:t>
            </a:r>
            <a:r>
              <a:rPr lang="en-US" sz="1100" noProof="0" err="1">
                <a:latin typeface="Segoe UI" panose="020B0502040204020203" pitchFamily="34" charset="0"/>
              </a:rPr>
              <a:t>rendement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humide</a:t>
            </a:r>
            <a:r>
              <a:rPr lang="en-US" sz="1100" noProof="0">
                <a:latin typeface="Segoe UI" panose="020B0502040204020203" pitchFamily="34" charset="0"/>
              </a:rPr>
              <a:t> sur </a:t>
            </a:r>
            <a:r>
              <a:rPr lang="en-US" sz="1100" noProof="0" err="1">
                <a:latin typeface="Segoe UI" panose="020B0502040204020203" pitchFamily="34" charset="0"/>
              </a:rPr>
              <a:t>toutes</a:t>
            </a:r>
            <a:r>
              <a:rPr lang="en-US" sz="1100" noProof="0">
                <a:latin typeface="Segoe UI" panose="020B0502040204020203" pitchFamily="34" charset="0"/>
              </a:rPr>
              <a:t> les couches </a:t>
            </a:r>
            <a:r>
              <a:rPr lang="en-US" sz="1100" noProof="0" err="1">
                <a:latin typeface="Segoe UI" panose="020B0502040204020203" pitchFamily="34" charset="0"/>
              </a:rPr>
              <a:t>terminées</a:t>
            </a:r>
            <a:r>
              <a:rPr lang="en-US" sz="1100" noProof="0">
                <a:latin typeface="Segoe UI" panose="020B0502040204020203" pitchFamily="34" charset="0"/>
              </a:rPr>
              <a:t> et </a:t>
            </a:r>
            <a:r>
              <a:rPr lang="en-US" sz="1100" noProof="0" err="1">
                <a:latin typeface="Segoe UI" panose="020B0502040204020203" pitchFamily="34" charset="0"/>
              </a:rPr>
              <a:t>dont</a:t>
            </a:r>
            <a:r>
              <a:rPr lang="en-US" sz="1100" noProof="0">
                <a:latin typeface="Segoe UI" panose="020B0502040204020203" pitchFamily="34" charset="0"/>
              </a:rPr>
              <a:t> le </a:t>
            </a:r>
            <a:r>
              <a:rPr lang="en-US" sz="1100" noProof="0" err="1">
                <a:latin typeface="Segoe UI" panose="020B0502040204020203" pitchFamily="34" charset="0"/>
              </a:rPr>
              <a:t>rendement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humide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est</a:t>
            </a:r>
            <a:r>
              <a:rPr lang="en-US" sz="1100" noProof="0">
                <a:latin typeface="Segoe UI" panose="020B0502040204020203" pitchFamily="34" charset="0"/>
              </a:rPr>
              <a:t> disponible</a:t>
            </a: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u="sng" noProof="0" err="1">
                <a:latin typeface="Segoe UI" panose="020B0502040204020203" pitchFamily="34" charset="0"/>
              </a:rPr>
              <a:t>Règle</a:t>
            </a:r>
            <a:r>
              <a:rPr lang="en-US" sz="1100" b="1" u="sng" noProof="0">
                <a:latin typeface="Segoe UI" panose="020B0502040204020203" pitchFamily="34" charset="0"/>
              </a:rPr>
              <a:t> de gestion : </a:t>
            </a:r>
          </a:p>
          <a:p>
            <a:pPr marL="171450" indent="-171450" fontAlgn="t">
              <a:buFontTx/>
              <a:buChar char="-"/>
            </a:pPr>
            <a:r>
              <a:rPr lang="en-US" sz="1100" noProof="0" err="1">
                <a:latin typeface="Segoe UI" panose="020B0502040204020203" pitchFamily="34" charset="0"/>
              </a:rPr>
              <a:t>Besoin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d’aller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chercher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toutes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ces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infos</a:t>
            </a:r>
            <a:r>
              <a:rPr lang="en-US" sz="1100" noProof="0">
                <a:latin typeface="Segoe UI" panose="020B0502040204020203" pitchFamily="34" charset="0"/>
              </a:rPr>
              <a:t> sur les 30 </a:t>
            </a:r>
            <a:r>
              <a:rPr lang="en-US" sz="1100" noProof="0" err="1">
                <a:latin typeface="Segoe UI" panose="020B0502040204020203" pitchFamily="34" charset="0"/>
              </a:rPr>
              <a:t>derniers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jours</a:t>
            </a:r>
            <a:r>
              <a:rPr lang="en-US" sz="1100" noProof="0">
                <a:latin typeface="Segoe UI" panose="020B0502040204020203" pitchFamily="34" charset="0"/>
              </a:rPr>
              <a:t> (m-1) &gt; </a:t>
            </a:r>
            <a:r>
              <a:rPr lang="en-US" sz="1100" noProof="0" err="1">
                <a:latin typeface="Segoe UI" panose="020B0502040204020203" pitchFamily="34" charset="0"/>
              </a:rPr>
              <a:t>demande</a:t>
            </a:r>
            <a:r>
              <a:rPr lang="en-US" sz="1100" noProof="0">
                <a:latin typeface="Segoe UI" panose="020B0502040204020203" pitchFamily="34" charset="0"/>
              </a:rPr>
              <a:t> MS</a:t>
            </a:r>
          </a:p>
          <a:p>
            <a:pPr marL="171450" indent="-171450" fontAlgn="t">
              <a:buFontTx/>
              <a:buChar char="-"/>
            </a:pPr>
            <a:r>
              <a:rPr lang="en-US" sz="1100" noProof="0" err="1">
                <a:latin typeface="Segoe UI" panose="020B0502040204020203" pitchFamily="34" charset="0"/>
              </a:rPr>
              <a:t>Mettre</a:t>
            </a:r>
            <a:r>
              <a:rPr lang="en-US" sz="1100" noProof="0">
                <a:latin typeface="Segoe UI" panose="020B0502040204020203" pitchFamily="34" charset="0"/>
              </a:rPr>
              <a:t> les tendances (trend) des 30 </a:t>
            </a:r>
            <a:r>
              <a:rPr lang="en-US" sz="1100" noProof="0" err="1">
                <a:latin typeface="Segoe UI" panose="020B0502040204020203" pitchFamily="34" charset="0"/>
              </a:rPr>
              <a:t>jours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précédents</a:t>
            </a:r>
            <a:r>
              <a:rPr lang="en-US" sz="1100" noProof="0">
                <a:latin typeface="Segoe UI" panose="020B0502040204020203" pitchFamily="34" charset="0"/>
              </a:rPr>
              <a:t> les </a:t>
            </a:r>
            <a:r>
              <a:rPr lang="en-US" sz="1100" noProof="0" err="1">
                <a:latin typeface="Segoe UI" panose="020B0502040204020203" pitchFamily="34" charset="0"/>
              </a:rPr>
              <a:t>datas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affichées</a:t>
            </a:r>
            <a:r>
              <a:rPr lang="en-US" sz="1100" noProof="0">
                <a:latin typeface="Segoe UI" panose="020B0502040204020203" pitchFamily="34" charset="0"/>
              </a:rPr>
              <a:t> (m-1)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9EF5B8-0951-29FD-E152-45EBA7D439C1}"/>
              </a:ext>
            </a:extLst>
          </p:cNvPr>
          <p:cNvSpPr/>
          <p:nvPr/>
        </p:nvSpPr>
        <p:spPr>
          <a:xfrm>
            <a:off x="2263209" y="1523699"/>
            <a:ext cx="1884962" cy="737934"/>
          </a:xfrm>
          <a:prstGeom prst="rect">
            <a:avLst/>
          </a:prstGeom>
          <a:solidFill>
            <a:srgbClr val="FFFFCC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b="1" noProof="0">
                <a:solidFill>
                  <a:schemeClr val="tx1"/>
                </a:solidFill>
              </a:rPr>
              <a:t>% </a:t>
            </a:r>
            <a:br>
              <a:rPr lang="en-US" sz="1400" noProof="0">
                <a:solidFill>
                  <a:schemeClr val="tx1"/>
                </a:solidFill>
              </a:rPr>
            </a:br>
            <a:r>
              <a:rPr lang="en-US" sz="1400" noProof="0">
                <a:solidFill>
                  <a:schemeClr val="tx1"/>
                </a:solidFill>
              </a:rPr>
              <a:t>Spec‑compliant AI recommendations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C5D45F-8C60-4DA0-5AFE-6F15C4ED5E6E}"/>
              </a:ext>
            </a:extLst>
          </p:cNvPr>
          <p:cNvSpPr/>
          <p:nvPr/>
        </p:nvSpPr>
        <p:spPr>
          <a:xfrm>
            <a:off x="2263209" y="2418786"/>
            <a:ext cx="1884962" cy="678451"/>
          </a:xfrm>
          <a:prstGeom prst="rect">
            <a:avLst/>
          </a:prstGeom>
          <a:solidFill>
            <a:srgbClr val="FFFFCC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br>
              <a:rPr lang="en-US" sz="1400" noProof="0">
                <a:solidFill>
                  <a:schemeClr val="tx1"/>
                </a:solidFill>
              </a:rPr>
            </a:br>
            <a:r>
              <a:rPr lang="en-US" sz="1400" noProof="0">
                <a:solidFill>
                  <a:schemeClr val="tx1"/>
                </a:solidFill>
              </a:rPr>
              <a:t>Average AI malt yield (R2)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619E73-8203-4839-DF2E-8C5E694A407F}"/>
              </a:ext>
            </a:extLst>
          </p:cNvPr>
          <p:cNvSpPr/>
          <p:nvPr/>
        </p:nvSpPr>
        <p:spPr>
          <a:xfrm>
            <a:off x="4611495" y="2418786"/>
            <a:ext cx="1926633" cy="678451"/>
          </a:xfrm>
          <a:prstGeom prst="rect">
            <a:avLst/>
          </a:prstGeom>
          <a:solidFill>
            <a:srgbClr val="FFFFCC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1400" noProof="0">
              <a:solidFill>
                <a:schemeClr val="tx1"/>
              </a:solidFill>
            </a:endParaRPr>
          </a:p>
          <a:p>
            <a:r>
              <a:rPr lang="en-US" sz="1400" noProof="0">
                <a:solidFill>
                  <a:schemeClr val="tx1"/>
                </a:solidFill>
              </a:rPr>
              <a:t>Average Real malt yield (R2)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D64CD-5C8F-D2B4-A703-46A7BAC7AEEB}"/>
              </a:ext>
            </a:extLst>
          </p:cNvPr>
          <p:cNvSpPr/>
          <p:nvPr/>
        </p:nvSpPr>
        <p:spPr>
          <a:xfrm>
            <a:off x="176848" y="1517306"/>
            <a:ext cx="1428850" cy="966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77 %</a:t>
            </a:r>
          </a:p>
          <a:p>
            <a:pPr lvl="0" algn="ctr">
              <a:defRPr/>
            </a:pPr>
            <a:r>
              <a:rPr lang="en-US" sz="1200" noProof="0">
                <a:solidFill>
                  <a:prstClr val="black"/>
                </a:solidFill>
                <a:latin typeface="Aptos" panose="02110004020202020204"/>
              </a:rPr>
              <a:t>available recommendations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BCC59D-72E5-5D20-1390-187158B06CF4}"/>
              </a:ext>
            </a:extLst>
          </p:cNvPr>
          <p:cNvSpPr/>
          <p:nvPr/>
        </p:nvSpPr>
        <p:spPr>
          <a:xfrm>
            <a:off x="4590773" y="1510685"/>
            <a:ext cx="1873368" cy="737934"/>
          </a:xfrm>
          <a:prstGeom prst="rect">
            <a:avLst/>
          </a:prstGeom>
          <a:solidFill>
            <a:srgbClr val="FFFFCC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b="1" noProof="0">
                <a:solidFill>
                  <a:schemeClr val="tx1"/>
                </a:solidFill>
              </a:rPr>
              <a:t>% </a:t>
            </a:r>
            <a:br>
              <a:rPr lang="en-US" sz="1400" noProof="0">
                <a:solidFill>
                  <a:schemeClr val="tx1"/>
                </a:solidFill>
              </a:rPr>
            </a:br>
            <a:r>
              <a:rPr lang="en-US" sz="1400" noProof="0">
                <a:solidFill>
                  <a:schemeClr val="tx1"/>
                </a:solidFill>
              </a:rPr>
              <a:t>Spec‑compliant output batches</a:t>
            </a:r>
          </a:p>
        </p:txBody>
      </p:sp>
      <p:sp>
        <p:nvSpPr>
          <p:cNvPr id="10" name="Flèche : haut 9">
            <a:extLst>
              <a:ext uri="{FF2B5EF4-FFF2-40B4-BE49-F238E27FC236}">
                <a16:creationId xmlns:a16="http://schemas.microsoft.com/office/drawing/2014/main" id="{BEC7AF4B-D0AA-0DC4-A65E-1BAA3FA2A943}"/>
              </a:ext>
            </a:extLst>
          </p:cNvPr>
          <p:cNvSpPr/>
          <p:nvPr/>
        </p:nvSpPr>
        <p:spPr>
          <a:xfrm>
            <a:off x="1656541" y="1848426"/>
            <a:ext cx="307085" cy="458819"/>
          </a:xfrm>
          <a:prstGeom prst="up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6193A17-EA21-E158-2A95-E6F99B68A798}"/>
              </a:ext>
            </a:extLst>
          </p:cNvPr>
          <p:cNvSpPr txBox="1"/>
          <p:nvPr/>
        </p:nvSpPr>
        <p:spPr>
          <a:xfrm>
            <a:off x="1618170" y="2350320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E6C2CC4-7669-CC80-52D4-8F6C323AD036}"/>
              </a:ext>
            </a:extLst>
          </p:cNvPr>
          <p:cNvSpPr txBox="1"/>
          <p:nvPr/>
        </p:nvSpPr>
        <p:spPr>
          <a:xfrm>
            <a:off x="4130343" y="1707059"/>
            <a:ext cx="58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/>
              <a:t>VS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4E54D22-E42A-D8C6-A052-FEA657ACA789}"/>
              </a:ext>
            </a:extLst>
          </p:cNvPr>
          <p:cNvSpPr txBox="1"/>
          <p:nvPr/>
        </p:nvSpPr>
        <p:spPr>
          <a:xfrm>
            <a:off x="4179563" y="2578972"/>
            <a:ext cx="597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/>
              <a:t>VS</a:t>
            </a:r>
          </a:p>
        </p:txBody>
      </p:sp>
      <p:sp>
        <p:nvSpPr>
          <p:cNvPr id="26" name="Flèche : bas 25">
            <a:extLst>
              <a:ext uri="{FF2B5EF4-FFF2-40B4-BE49-F238E27FC236}">
                <a16:creationId xmlns:a16="http://schemas.microsoft.com/office/drawing/2014/main" id="{2138558E-56A4-46F6-16A3-D0C9A1D5D47D}"/>
              </a:ext>
            </a:extLst>
          </p:cNvPr>
          <p:cNvSpPr/>
          <p:nvPr/>
        </p:nvSpPr>
        <p:spPr>
          <a:xfrm>
            <a:off x="6343377" y="2504915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8B42CC0-6058-1A2D-9409-BD86E04AD141}"/>
              </a:ext>
            </a:extLst>
          </p:cNvPr>
          <p:cNvSpPr txBox="1"/>
          <p:nvPr/>
        </p:nvSpPr>
        <p:spPr>
          <a:xfrm>
            <a:off x="6302768" y="3005794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28" name="Flèche : bas 27">
            <a:extLst>
              <a:ext uri="{FF2B5EF4-FFF2-40B4-BE49-F238E27FC236}">
                <a16:creationId xmlns:a16="http://schemas.microsoft.com/office/drawing/2014/main" id="{DDB48047-E2C8-3E79-398F-B233C7697945}"/>
              </a:ext>
            </a:extLst>
          </p:cNvPr>
          <p:cNvSpPr/>
          <p:nvPr/>
        </p:nvSpPr>
        <p:spPr>
          <a:xfrm>
            <a:off x="3980236" y="1600145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107720B-0FA7-8240-63FE-443D0BD54270}"/>
              </a:ext>
            </a:extLst>
          </p:cNvPr>
          <p:cNvSpPr txBox="1"/>
          <p:nvPr/>
        </p:nvSpPr>
        <p:spPr>
          <a:xfrm>
            <a:off x="3939627" y="2101024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30" name="Flèche : haut 29">
            <a:extLst>
              <a:ext uri="{FF2B5EF4-FFF2-40B4-BE49-F238E27FC236}">
                <a16:creationId xmlns:a16="http://schemas.microsoft.com/office/drawing/2014/main" id="{4F012A1B-7DED-CFD5-914D-722CECC44C9C}"/>
              </a:ext>
            </a:extLst>
          </p:cNvPr>
          <p:cNvSpPr/>
          <p:nvPr/>
        </p:nvSpPr>
        <p:spPr>
          <a:xfrm>
            <a:off x="4006835" y="2483423"/>
            <a:ext cx="307085" cy="458819"/>
          </a:xfrm>
          <a:prstGeom prst="up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FAD3C68-E4E0-9571-1551-C6EEB76A547F}"/>
              </a:ext>
            </a:extLst>
          </p:cNvPr>
          <p:cNvSpPr txBox="1"/>
          <p:nvPr/>
        </p:nvSpPr>
        <p:spPr>
          <a:xfrm>
            <a:off x="3968464" y="2985317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32" name="Flèche : haut 31">
            <a:extLst>
              <a:ext uri="{FF2B5EF4-FFF2-40B4-BE49-F238E27FC236}">
                <a16:creationId xmlns:a16="http://schemas.microsoft.com/office/drawing/2014/main" id="{43E86CE5-DF47-070B-1A69-C9F99DB637DB}"/>
              </a:ext>
            </a:extLst>
          </p:cNvPr>
          <p:cNvSpPr/>
          <p:nvPr/>
        </p:nvSpPr>
        <p:spPr>
          <a:xfrm>
            <a:off x="6295457" y="1581033"/>
            <a:ext cx="307085" cy="458819"/>
          </a:xfrm>
          <a:prstGeom prst="up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3386358-D2DC-ADBD-F81E-25D05F974DE4}"/>
              </a:ext>
            </a:extLst>
          </p:cNvPr>
          <p:cNvSpPr txBox="1"/>
          <p:nvPr/>
        </p:nvSpPr>
        <p:spPr>
          <a:xfrm>
            <a:off x="6257086" y="2082927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512F2D-3F12-A6C6-7EFA-415B1389A5F7}"/>
              </a:ext>
            </a:extLst>
          </p:cNvPr>
          <p:cNvSpPr/>
          <p:nvPr/>
        </p:nvSpPr>
        <p:spPr>
          <a:xfrm>
            <a:off x="179123" y="2534188"/>
            <a:ext cx="1428850" cy="803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X 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prstClr val="black"/>
                </a:solidFill>
                <a:latin typeface="Aptos" panose="02110004020202020204"/>
              </a:rPr>
              <a:t>declared applied recommendations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4934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DB31-B8B9-3DBA-CB99-1AED08059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ZoneTexte 17">
            <a:extLst>
              <a:ext uri="{FF2B5EF4-FFF2-40B4-BE49-F238E27FC236}">
                <a16:creationId xmlns:a16="http://schemas.microsoft.com/office/drawing/2014/main" id="{0BA5C31F-BF34-1D56-CC3C-247FEBE89539}"/>
              </a:ext>
            </a:extLst>
          </p:cNvPr>
          <p:cNvSpPr txBox="1"/>
          <p:nvPr/>
        </p:nvSpPr>
        <p:spPr>
          <a:xfrm>
            <a:off x="176848" y="782711"/>
            <a:ext cx="659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/>
              <a:t>5. Process Time &amp; Production Notes - Focus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95B95E6-704A-5F64-66A1-253D1A28346C}"/>
              </a:ext>
            </a:extLst>
          </p:cNvPr>
          <p:cNvSpPr txBox="1"/>
          <p:nvPr/>
        </p:nvSpPr>
        <p:spPr>
          <a:xfrm>
            <a:off x="378494" y="4386534"/>
            <a:ext cx="6132187" cy="5847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t">
              <a:buNone/>
            </a:pPr>
            <a:r>
              <a:rPr lang="en-US" sz="1100" b="1" i="1" noProof="0">
                <a:latin typeface="Segoe UI" panose="020B0502040204020203" pitchFamily="34" charset="0"/>
              </a:rPr>
              <a:t>Ci-dessus les données </a:t>
            </a:r>
            <a:r>
              <a:rPr lang="en-US" sz="1100" b="1" i="1" noProof="0" err="1">
                <a:latin typeface="Segoe UI" panose="020B0502040204020203" pitchFamily="34" charset="0"/>
              </a:rPr>
              <a:t>souhaitées</a:t>
            </a:r>
            <a:r>
              <a:rPr lang="en-US" sz="1100" b="1" i="1" noProof="0">
                <a:latin typeface="Segoe UI" panose="020B0502040204020203" pitchFamily="34" charset="0"/>
              </a:rPr>
              <a:t> indispensables.</a:t>
            </a:r>
          </a:p>
          <a:p>
            <a:pPr fontAlgn="t">
              <a:buNone/>
            </a:pPr>
            <a:endParaRPr lang="en-US" sz="1100" b="1" i="1" noProof="0">
              <a:latin typeface="Segoe UI" panose="020B0502040204020203" pitchFamily="34" charset="0"/>
            </a:endParaRPr>
          </a:p>
          <a:p>
            <a:pPr fontAlgn="t">
              <a:buNone/>
            </a:pPr>
            <a:endParaRPr lang="en-US" sz="1100" b="1" i="1" noProof="0">
              <a:highlight>
                <a:srgbClr val="FFFF00"/>
              </a:highlight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u="sng" noProof="0" err="1">
                <a:latin typeface="Segoe UI" panose="020B0502040204020203" pitchFamily="34" charset="0"/>
              </a:rPr>
              <a:t>Précisions</a:t>
            </a:r>
            <a:r>
              <a:rPr lang="en-US" sz="1100" b="1" u="sng" noProof="0">
                <a:latin typeface="Segoe UI" panose="020B0502040204020203" pitchFamily="34" charset="0"/>
              </a:rPr>
              <a:t> sur </a:t>
            </a:r>
            <a:r>
              <a:rPr lang="en-US" sz="1100" b="1" u="sng" noProof="0" err="1">
                <a:latin typeface="Segoe UI" panose="020B0502040204020203" pitchFamily="34" charset="0"/>
              </a:rPr>
              <a:t>chaque</a:t>
            </a:r>
            <a:r>
              <a:rPr lang="en-US" sz="1100" b="1" u="sng" noProof="0">
                <a:latin typeface="Segoe UI" panose="020B0502040204020203" pitchFamily="34" charset="0"/>
              </a:rPr>
              <a:t> data :</a:t>
            </a:r>
          </a:p>
          <a:p>
            <a:pPr fontAlgn="t">
              <a:buNone/>
            </a:pPr>
            <a:endParaRPr lang="en-US" sz="1100" noProof="0">
              <a:highlight>
                <a:srgbClr val="FFFF00"/>
              </a:highlight>
              <a:latin typeface="Segoe UI" panose="020B0502040204020203" pitchFamily="34" charset="0"/>
            </a:endParaRPr>
          </a:p>
          <a:p>
            <a:pPr fontAlgn="t"/>
            <a:r>
              <a:rPr lang="en-US" sz="1100" noProof="0">
                <a:latin typeface="Segoe UI" panose="020B0502040204020203" pitchFamily="34" charset="0"/>
              </a:rPr>
              <a:t>Tableau avec les </a:t>
            </a:r>
            <a:r>
              <a:rPr lang="en-US" sz="1100" noProof="0" err="1">
                <a:latin typeface="Segoe UI" panose="020B0502040204020203" pitchFamily="34" charset="0"/>
              </a:rPr>
              <a:t>informations</a:t>
            </a:r>
            <a:r>
              <a:rPr lang="en-US" sz="1100" noProof="0">
                <a:latin typeface="Segoe UI" panose="020B0502040204020203" pitchFamily="34" charset="0"/>
              </a:rPr>
              <a:t> sur les consultations des tableaux </a:t>
            </a:r>
            <a:r>
              <a:rPr lang="en-US" sz="1100" noProof="0" err="1">
                <a:latin typeface="Segoe UI" panose="020B0502040204020203" pitchFamily="34" charset="0"/>
              </a:rPr>
              <a:t>embarqués</a:t>
            </a:r>
            <a:r>
              <a:rPr lang="en-US" sz="1100" noProof="0">
                <a:latin typeface="Segoe UI" panose="020B0502040204020203" pitchFamily="34" charset="0"/>
              </a:rPr>
              <a:t> dans Maltimize info disponible </a:t>
            </a:r>
            <a:r>
              <a:rPr lang="en-US" sz="1100" noProof="0" err="1">
                <a:latin typeface="Segoe UI" panose="020B0502040204020203" pitchFamily="34" charset="0"/>
              </a:rPr>
              <a:t>nativement</a:t>
            </a:r>
            <a:r>
              <a:rPr lang="en-US" sz="1100" noProof="0">
                <a:latin typeface="Segoe UI" panose="020B0502040204020203" pitchFamily="34" charset="0"/>
              </a:rPr>
              <a:t> dans PBI dans </a:t>
            </a:r>
            <a:r>
              <a:rPr lang="en-US" sz="1100" noProof="0" err="1">
                <a:latin typeface="Segoe UI" panose="020B0502040204020203" pitchFamily="34" charset="0"/>
              </a:rPr>
              <a:t>ce</a:t>
            </a:r>
            <a:r>
              <a:rPr lang="en-US" sz="1100" noProof="0">
                <a:latin typeface="Segoe UI" panose="020B0502040204020203" pitchFamily="34" charset="0"/>
              </a:rPr>
              <a:t> dashboard.</a:t>
            </a:r>
            <a:br>
              <a:rPr lang="en-US" sz="1100" b="1" noProof="0">
                <a:latin typeface="Segoe UI" panose="020B0502040204020203" pitchFamily="34" charset="0"/>
              </a:rPr>
            </a:br>
            <a:r>
              <a:rPr lang="en-US" sz="1100" b="1" noProof="0">
                <a:latin typeface="Segoe UI" panose="020B0502040204020203" pitchFamily="34" charset="0"/>
                <a:hlinkClick r:id="rId3"/>
              </a:rPr>
              <a:t>https://app.powerbi.com/Report list</a:t>
            </a:r>
            <a:endParaRPr lang="en-US" sz="1100" b="1" noProof="0">
              <a:latin typeface="Segoe UI" panose="020B0502040204020203" pitchFamily="34" charset="0"/>
            </a:endParaRPr>
          </a:p>
          <a:p>
            <a:pPr fontAlgn="t"/>
            <a:br>
              <a:rPr lang="en-US" sz="1100" b="1" noProof="0">
                <a:latin typeface="Segoe UI" panose="020B0502040204020203" pitchFamily="34" charset="0"/>
              </a:rPr>
            </a:br>
            <a:endParaRPr lang="en-US" sz="1100" b="1" noProof="0">
              <a:highlight>
                <a:srgbClr val="FFFF00"/>
              </a:highlight>
              <a:latin typeface="Segoe UI" panose="020B0502040204020203" pitchFamily="34" charset="0"/>
            </a:endParaRPr>
          </a:p>
          <a:p>
            <a:pPr marL="171450" indent="-171450" fontAlgn="t">
              <a:buFont typeface="Wingdings" panose="05000000000000000000" pitchFamily="2" charset="2"/>
              <a:buChar char="è"/>
            </a:pPr>
            <a:r>
              <a:rPr lang="en-US" sz="1100" b="1" noProof="0">
                <a:highlight>
                  <a:srgbClr val="FFFF00"/>
                </a:highlight>
                <a:latin typeface="Segoe UI" panose="020B0502040204020203" pitchFamily="34" charset="0"/>
              </a:rPr>
              <a:t>A quoi </a:t>
            </a:r>
            <a:r>
              <a:rPr lang="en-US" sz="1100" b="1" noProof="0" err="1">
                <a:highlight>
                  <a:srgbClr val="FFFF00"/>
                </a:highlight>
                <a:latin typeface="Segoe UI" panose="020B0502040204020203" pitchFamily="34" charset="0"/>
              </a:rPr>
              <a:t>sert</a:t>
            </a:r>
            <a:r>
              <a:rPr lang="en-US" sz="1100" b="1" noProof="0">
                <a:highlight>
                  <a:srgbClr val="FFFF00"/>
                </a:highlight>
                <a:latin typeface="Segoe UI" panose="020B0502040204020203" pitchFamily="34" charset="0"/>
              </a:rPr>
              <a:t> </a:t>
            </a:r>
            <a:r>
              <a:rPr lang="en-US" sz="1100" b="1" noProof="0" err="1">
                <a:highlight>
                  <a:srgbClr val="FFFF00"/>
                </a:highlight>
                <a:latin typeface="Segoe UI" panose="020B0502040204020203" pitchFamily="34" charset="0"/>
              </a:rPr>
              <a:t>l’information</a:t>
            </a:r>
            <a:r>
              <a:rPr lang="en-US" sz="1100" b="1" noProof="0">
                <a:highlight>
                  <a:srgbClr val="FFFF00"/>
                </a:highlight>
                <a:latin typeface="Segoe UI" panose="020B0502040204020203" pitchFamily="34" charset="0"/>
              </a:rPr>
              <a:t> Days ? Et Views </a:t>
            </a:r>
            <a:r>
              <a:rPr lang="en-US" sz="1100" b="1" noProof="0" err="1">
                <a:highlight>
                  <a:srgbClr val="FFFF00"/>
                </a:highlight>
                <a:latin typeface="Segoe UI" panose="020B0502040204020203" pitchFamily="34" charset="0"/>
              </a:rPr>
              <a:t>est-ce</a:t>
            </a:r>
            <a:r>
              <a:rPr lang="en-US" sz="1100" b="1" noProof="0">
                <a:highlight>
                  <a:srgbClr val="FFFF00"/>
                </a:highlight>
                <a:latin typeface="Segoe UI" panose="020B0502040204020203" pitchFamily="34" charset="0"/>
              </a:rPr>
              <a:t> utile ?</a:t>
            </a:r>
            <a:br>
              <a:rPr lang="en-US" sz="1100" b="1" noProof="0">
                <a:highlight>
                  <a:srgbClr val="FFFF00"/>
                </a:highlight>
                <a:latin typeface="Segoe UI" panose="020B0502040204020203" pitchFamily="34" charset="0"/>
              </a:rPr>
            </a:br>
            <a:endParaRPr lang="en-US" sz="1100" b="1" noProof="0">
              <a:highlight>
                <a:srgbClr val="FFFF00"/>
              </a:highlight>
              <a:latin typeface="Segoe UI" panose="020B0502040204020203" pitchFamily="34" charset="0"/>
            </a:endParaRPr>
          </a:p>
          <a:p>
            <a:pPr fontAlgn="t"/>
            <a:br>
              <a:rPr lang="en-US" sz="1100" b="1" noProof="0">
                <a:latin typeface="Segoe UI" panose="020B0502040204020203" pitchFamily="34" charset="0"/>
              </a:rPr>
            </a:br>
            <a:r>
              <a:rPr lang="en-US" sz="1100" b="1" noProof="0">
                <a:latin typeface="Segoe UI" panose="020B0502040204020203" pitchFamily="34" charset="0"/>
              </a:rPr>
              <a:t>Gap Target vs actual cycle time</a:t>
            </a:r>
          </a:p>
          <a:p>
            <a:pPr fontAlgn="t"/>
            <a:r>
              <a:rPr lang="en-US" sz="1100" noProof="0">
                <a:latin typeface="Segoe UI" panose="020B0502040204020203" pitchFamily="34" charset="0"/>
              </a:rPr>
              <a:t>Info déjà </a:t>
            </a:r>
            <a:r>
              <a:rPr lang="en-US" sz="1100" noProof="0" err="1">
                <a:latin typeface="Segoe UI" panose="020B0502040204020203" pitchFamily="34" charset="0"/>
              </a:rPr>
              <a:t>calculée</a:t>
            </a:r>
            <a:r>
              <a:rPr lang="en-US" sz="1100" noProof="0">
                <a:latin typeface="Segoe UI" panose="020B0502040204020203" pitchFamily="34" charset="0"/>
              </a:rPr>
              <a:t> dans </a:t>
            </a:r>
            <a:r>
              <a:rPr lang="en-US" sz="1100" noProof="0" err="1">
                <a:latin typeface="Segoe UI" panose="020B0502040204020203" pitchFamily="34" charset="0"/>
              </a:rPr>
              <a:t>plusieurs</a:t>
            </a:r>
            <a:r>
              <a:rPr lang="en-US" sz="1100" noProof="0">
                <a:latin typeface="Segoe UI" panose="020B0502040204020203" pitchFamily="34" charset="0"/>
              </a:rPr>
              <a:t> dashboards </a:t>
            </a:r>
            <a:r>
              <a:rPr lang="en-US" sz="1100" noProof="0" err="1">
                <a:latin typeface="Segoe UI" panose="020B0502040204020203" pitchFamily="34" charset="0"/>
              </a:rPr>
              <a:t>dont</a:t>
            </a:r>
            <a:r>
              <a:rPr lang="en-US" sz="1100" noProof="0">
                <a:latin typeface="Segoe UI" panose="020B0502040204020203" pitchFamily="34" charset="0"/>
              </a:rPr>
              <a:t> : </a:t>
            </a:r>
            <a:r>
              <a:rPr lang="en-US" sz="1100" noProof="0">
                <a:latin typeface="Segoe UI" panose="020B0502040204020203" pitchFamily="34" charset="0"/>
                <a:hlinkClick r:id="rId4"/>
              </a:rPr>
              <a:t>https://app.powerbi.com/calculation of applied </a:t>
            </a:r>
            <a:r>
              <a:rPr lang="en-US" sz="1100" noProof="0" err="1">
                <a:latin typeface="Segoe UI" panose="020B0502040204020203" pitchFamily="34" charset="0"/>
                <a:hlinkClick r:id="rId4"/>
              </a:rPr>
              <a:t>recommandations</a:t>
            </a:r>
            <a:endParaRPr lang="en-US" sz="1100" noProof="0">
              <a:latin typeface="Segoe UI" panose="020B0502040204020203" pitchFamily="34" charset="0"/>
            </a:endParaRPr>
          </a:p>
          <a:p>
            <a:pPr fontAlgn="t"/>
            <a:endParaRPr lang="en-US" sz="1100" noProof="0">
              <a:latin typeface="Segoe UI" panose="020B0502040204020203" pitchFamily="34" charset="0"/>
            </a:endParaRPr>
          </a:p>
          <a:p>
            <a:pPr fontAlgn="t"/>
            <a:r>
              <a:rPr lang="en-US" sz="1100" noProof="0">
                <a:latin typeface="Segoe UI" panose="020B0502040204020203" pitchFamily="34" charset="0"/>
              </a:rPr>
              <a:t>Moyenne des gaps à </a:t>
            </a:r>
            <a:r>
              <a:rPr lang="en-US" sz="1100" noProof="0" err="1">
                <a:latin typeface="Segoe UI" panose="020B0502040204020203" pitchFamily="34" charset="0"/>
              </a:rPr>
              <a:t>voir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si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cela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reste</a:t>
            </a:r>
            <a:r>
              <a:rPr lang="en-US" sz="1100" noProof="0">
                <a:latin typeface="Segoe UI" panose="020B0502040204020203" pitchFamily="34" charset="0"/>
              </a:rPr>
              <a:t> coherent </a:t>
            </a:r>
            <a:r>
              <a:rPr lang="en-US" sz="1100" noProof="0" err="1">
                <a:latin typeface="Segoe UI" panose="020B0502040204020203" pitchFamily="34" charset="0"/>
              </a:rPr>
              <a:t>en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mettant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tous</a:t>
            </a:r>
            <a:r>
              <a:rPr lang="en-US" sz="1100" noProof="0">
                <a:latin typeface="Segoe UI" panose="020B0502040204020203" pitchFamily="34" charset="0"/>
              </a:rPr>
              <a:t> les sites.</a:t>
            </a:r>
          </a:p>
          <a:p>
            <a:pPr fontAlgn="t"/>
            <a:endParaRPr lang="en-US" sz="1100" noProof="0">
              <a:latin typeface="Segoe UI" panose="020B0502040204020203" pitchFamily="34" charset="0"/>
            </a:endParaRPr>
          </a:p>
          <a:p>
            <a:pPr fontAlgn="t"/>
            <a:endParaRPr lang="en-US" sz="1100" noProof="0">
              <a:latin typeface="Segoe UI" panose="020B0502040204020203" pitchFamily="34" charset="0"/>
            </a:endParaRPr>
          </a:p>
          <a:p>
            <a:pPr fontAlgn="t"/>
            <a:r>
              <a:rPr lang="en-US" sz="1100" b="1" noProof="0">
                <a:latin typeface="Segoe UI" panose="020B0502040204020203" pitchFamily="34" charset="0"/>
              </a:rPr>
              <a:t>Production notes </a:t>
            </a:r>
            <a:br>
              <a:rPr lang="en-US" sz="1100" b="1" noProof="0">
                <a:latin typeface="Segoe UI" panose="020B0502040204020203" pitchFamily="34" charset="0"/>
              </a:rPr>
            </a:br>
            <a:r>
              <a:rPr lang="en-US" sz="1100" noProof="0">
                <a:latin typeface="Segoe UI" panose="020B0502040204020203" pitchFamily="34" charset="0"/>
              </a:rPr>
              <a:t>Nombre de notes de production sur la </a:t>
            </a:r>
            <a:r>
              <a:rPr lang="en-US" sz="1100" noProof="0" err="1">
                <a:latin typeface="Segoe UI" panose="020B0502040204020203" pitchFamily="34" charset="0"/>
              </a:rPr>
              <a:t>période</a:t>
            </a:r>
            <a:r>
              <a:rPr lang="en-US" sz="1100" noProof="0">
                <a:latin typeface="Segoe UI" panose="020B0502040204020203" pitchFamily="34" charset="0"/>
              </a:rPr>
              <a:t> (par </a:t>
            </a:r>
            <a:r>
              <a:rPr lang="en-US" sz="1100" noProof="0" err="1">
                <a:latin typeface="Segoe UI" panose="020B0502040204020203" pitchFamily="34" charset="0"/>
              </a:rPr>
              <a:t>défaut</a:t>
            </a:r>
            <a:r>
              <a:rPr lang="en-US" sz="1100" noProof="0">
                <a:latin typeface="Segoe UI" panose="020B0502040204020203" pitchFamily="34" charset="0"/>
              </a:rPr>
              <a:t> 30 </a:t>
            </a:r>
            <a:r>
              <a:rPr lang="en-US" sz="1100" noProof="0" err="1">
                <a:latin typeface="Segoe UI" panose="020B0502040204020203" pitchFamily="34" charset="0"/>
              </a:rPr>
              <a:t>derniers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jours</a:t>
            </a:r>
            <a:r>
              <a:rPr lang="en-US" sz="1100" noProof="0">
                <a:latin typeface="Segoe UI" panose="020B0502040204020203" pitchFamily="34" charset="0"/>
              </a:rPr>
              <a:t>). </a:t>
            </a:r>
            <a:r>
              <a:rPr lang="en-US" sz="1100" noProof="0" err="1">
                <a:latin typeface="Segoe UI" panose="020B0502040204020203" pitchFamily="34" charset="0"/>
              </a:rPr>
              <a:t>Informations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disponibles</a:t>
            </a:r>
            <a:r>
              <a:rPr lang="en-US" sz="1100" noProof="0">
                <a:latin typeface="Segoe UI" panose="020B0502040204020203" pitchFamily="34" charset="0"/>
              </a:rPr>
              <a:t> dans les tables de </a:t>
            </a:r>
            <a:r>
              <a:rPr lang="en-US" sz="1100" noProof="0" err="1">
                <a:latin typeface="Segoe UI" panose="020B0502040204020203" pitchFamily="34" charset="0"/>
              </a:rPr>
              <a:t>Metabase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liées</a:t>
            </a:r>
            <a:r>
              <a:rPr lang="en-US" sz="1100" noProof="0">
                <a:latin typeface="Segoe UI" panose="020B0502040204020203" pitchFamily="34" charset="0"/>
              </a:rPr>
              <a:t> à Batch Notes (Notes Categories/</a:t>
            </a:r>
            <a:r>
              <a:rPr lang="en-US" sz="1100" noProof="0" err="1">
                <a:latin typeface="Segoe UI" panose="020B0502040204020203" pitchFamily="34" charset="0"/>
              </a:rPr>
              <a:t>Hierarchie</a:t>
            </a:r>
            <a:r>
              <a:rPr lang="en-US" sz="1100" noProof="0">
                <a:latin typeface="Segoe UI" panose="020B0502040204020203" pitchFamily="34" charset="0"/>
              </a:rPr>
              <a:t>/…)</a:t>
            </a:r>
            <a:br>
              <a:rPr lang="en-US" sz="1100" noProof="0">
                <a:latin typeface="Segoe UI" panose="020B0502040204020203" pitchFamily="34" charset="0"/>
              </a:rPr>
            </a:br>
            <a:endParaRPr lang="en-US" sz="1100" noProof="0">
              <a:latin typeface="Segoe UI" panose="020B0502040204020203" pitchFamily="34" charset="0"/>
            </a:endParaRPr>
          </a:p>
          <a:p>
            <a:pPr fontAlgn="t"/>
            <a:endParaRPr lang="en-US" sz="1100" noProof="0">
              <a:latin typeface="Segoe UI" panose="020B0502040204020203" pitchFamily="34" charset="0"/>
              <a:sym typeface="Wingdings" panose="05000000000000000000" pitchFamily="2" charset="2"/>
            </a:endParaRPr>
          </a:p>
          <a:p>
            <a:pPr fontAlgn="t"/>
            <a:r>
              <a:rPr lang="en-US" sz="1100" b="1" noProof="0">
                <a:latin typeface="Segoe UI" panose="020B0502040204020203" pitchFamily="34" charset="0"/>
              </a:rPr>
              <a:t>Graph « Production notes impacts »</a:t>
            </a:r>
            <a:br>
              <a:rPr lang="en-US" sz="1100" b="1" noProof="0">
                <a:latin typeface="Segoe UI" panose="020B0502040204020203" pitchFamily="34" charset="0"/>
              </a:rPr>
            </a:br>
            <a:r>
              <a:rPr lang="en-US" sz="1100" noProof="0">
                <a:latin typeface="Segoe UI" panose="020B0502040204020203" pitchFamily="34" charset="0"/>
              </a:rPr>
              <a:t>Information dans </a:t>
            </a:r>
            <a:r>
              <a:rPr lang="en-US" sz="1100" noProof="0" err="1">
                <a:latin typeface="Segoe UI" panose="020B0502040204020203" pitchFamily="34" charset="0"/>
              </a:rPr>
              <a:t>metabase</a:t>
            </a:r>
            <a:r>
              <a:rPr lang="en-US" sz="1100" noProof="0">
                <a:latin typeface="Segoe UI" panose="020B0502040204020203" pitchFamily="34" charset="0"/>
              </a:rPr>
              <a:t> et graph disponible </a:t>
            </a:r>
            <a:r>
              <a:rPr lang="en-US" sz="1100" noProof="0" err="1">
                <a:latin typeface="Segoe UI" panose="020B0502040204020203" pitchFamily="34" charset="0"/>
              </a:rPr>
              <a:t>ici</a:t>
            </a:r>
            <a:r>
              <a:rPr lang="en-US" sz="1100" noProof="0">
                <a:latin typeface="Segoe UI" panose="020B0502040204020203" pitchFamily="34" charset="0"/>
              </a:rPr>
              <a:t> : </a:t>
            </a:r>
            <a:r>
              <a:rPr lang="en-US" sz="1100" noProof="0">
                <a:latin typeface="Segoe UI" panose="020B0502040204020203" pitchFamily="34" charset="0"/>
                <a:hlinkClick r:id="rId5"/>
              </a:rPr>
              <a:t>https://metabase.tooling.invivodigitalfactory.com/dashboard/1358-dash-notes-de-production-duplicate?date=2025-07-01~2026-01-28</a:t>
            </a:r>
            <a:endParaRPr lang="en-US" sz="1100" noProof="0">
              <a:latin typeface="Segoe UI" panose="020B0502040204020203" pitchFamily="34" charset="0"/>
            </a:endParaRPr>
          </a:p>
          <a:p>
            <a:pPr fontAlgn="t"/>
            <a:endParaRPr lang="en-US" sz="1100" noProof="0">
              <a:latin typeface="Segoe UI" panose="020B0502040204020203" pitchFamily="34" charset="0"/>
              <a:sym typeface="Wingdings" panose="05000000000000000000" pitchFamily="2" charset="2"/>
            </a:endParaRPr>
          </a:p>
          <a:p>
            <a:pPr fontAlgn="t">
              <a:buNone/>
            </a:pPr>
            <a:endParaRPr lang="en-US" sz="1100" noProof="0"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1100" b="1" u="sng" noProof="0" err="1">
                <a:latin typeface="Segoe UI" panose="020B0502040204020203" pitchFamily="34" charset="0"/>
              </a:rPr>
              <a:t>Règle</a:t>
            </a:r>
            <a:r>
              <a:rPr lang="en-US" sz="1100" b="1" u="sng" noProof="0">
                <a:latin typeface="Segoe UI" panose="020B0502040204020203" pitchFamily="34" charset="0"/>
              </a:rPr>
              <a:t> de gestion : </a:t>
            </a:r>
          </a:p>
          <a:p>
            <a:pPr marL="171450" indent="-171450" fontAlgn="t">
              <a:buFontTx/>
              <a:buChar char="-"/>
            </a:pPr>
            <a:r>
              <a:rPr lang="en-US" sz="1100" noProof="0" err="1">
                <a:latin typeface="Segoe UI" panose="020B0502040204020203" pitchFamily="34" charset="0"/>
              </a:rPr>
              <a:t>Besoin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d’aller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chercher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toutes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ces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infos</a:t>
            </a:r>
            <a:r>
              <a:rPr lang="en-US" sz="1100" noProof="0">
                <a:latin typeface="Segoe UI" panose="020B0502040204020203" pitchFamily="34" charset="0"/>
              </a:rPr>
              <a:t> sur les 30 </a:t>
            </a:r>
            <a:r>
              <a:rPr lang="en-US" sz="1100" noProof="0" err="1">
                <a:latin typeface="Segoe UI" panose="020B0502040204020203" pitchFamily="34" charset="0"/>
              </a:rPr>
              <a:t>derniers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jours</a:t>
            </a:r>
            <a:r>
              <a:rPr lang="en-US" sz="1100" noProof="0">
                <a:latin typeface="Segoe UI" panose="020B0502040204020203" pitchFamily="34" charset="0"/>
              </a:rPr>
              <a:t> (m-1) &gt; </a:t>
            </a:r>
            <a:r>
              <a:rPr lang="en-US" sz="1100" noProof="0" err="1">
                <a:latin typeface="Segoe UI" panose="020B0502040204020203" pitchFamily="34" charset="0"/>
              </a:rPr>
              <a:t>demande</a:t>
            </a:r>
            <a:r>
              <a:rPr lang="en-US" sz="1100" noProof="0">
                <a:latin typeface="Segoe UI" panose="020B0502040204020203" pitchFamily="34" charset="0"/>
              </a:rPr>
              <a:t> MS</a:t>
            </a:r>
          </a:p>
          <a:p>
            <a:pPr marL="171450" indent="-171450" fontAlgn="t">
              <a:buFontTx/>
              <a:buChar char="-"/>
            </a:pPr>
            <a:r>
              <a:rPr lang="en-US" sz="1100" noProof="0" err="1">
                <a:latin typeface="Segoe UI" panose="020B0502040204020203" pitchFamily="34" charset="0"/>
              </a:rPr>
              <a:t>Mettre</a:t>
            </a:r>
            <a:r>
              <a:rPr lang="en-US" sz="1100" noProof="0">
                <a:latin typeface="Segoe UI" panose="020B0502040204020203" pitchFamily="34" charset="0"/>
              </a:rPr>
              <a:t> les tendances (trend) des 30 </a:t>
            </a:r>
            <a:r>
              <a:rPr lang="en-US" sz="1100" noProof="0" err="1">
                <a:latin typeface="Segoe UI" panose="020B0502040204020203" pitchFamily="34" charset="0"/>
              </a:rPr>
              <a:t>jours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précédents</a:t>
            </a:r>
            <a:r>
              <a:rPr lang="en-US" sz="1100" noProof="0">
                <a:latin typeface="Segoe UI" panose="020B0502040204020203" pitchFamily="34" charset="0"/>
              </a:rPr>
              <a:t> les </a:t>
            </a:r>
            <a:r>
              <a:rPr lang="en-US" sz="1100" noProof="0" err="1">
                <a:latin typeface="Segoe UI" panose="020B0502040204020203" pitchFamily="34" charset="0"/>
              </a:rPr>
              <a:t>datas</a:t>
            </a:r>
            <a:r>
              <a:rPr lang="en-US" sz="1100" noProof="0">
                <a:latin typeface="Segoe UI" panose="020B0502040204020203" pitchFamily="34" charset="0"/>
              </a:rPr>
              <a:t> </a:t>
            </a:r>
            <a:r>
              <a:rPr lang="en-US" sz="1100" noProof="0" err="1">
                <a:latin typeface="Segoe UI" panose="020B0502040204020203" pitchFamily="34" charset="0"/>
              </a:rPr>
              <a:t>affichées</a:t>
            </a:r>
            <a:r>
              <a:rPr lang="en-US" sz="1100" noProof="0">
                <a:latin typeface="Segoe UI" panose="020B0502040204020203" pitchFamily="34" charset="0"/>
              </a:rPr>
              <a:t> (m-1)</a:t>
            </a:r>
          </a:p>
        </p:txBody>
      </p:sp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7288D288-B4A6-8DED-F95E-02E40CA5FF67}"/>
              </a:ext>
            </a:extLst>
          </p:cNvPr>
          <p:cNvSpPr/>
          <p:nvPr/>
        </p:nvSpPr>
        <p:spPr>
          <a:xfrm>
            <a:off x="5984669" y="1418130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83D4667-F177-D859-59BF-EC06E590CE84}"/>
              </a:ext>
            </a:extLst>
          </p:cNvPr>
          <p:cNvSpPr txBox="1"/>
          <p:nvPr/>
        </p:nvSpPr>
        <p:spPr>
          <a:xfrm>
            <a:off x="6155071" y="1486363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B0BA57-C172-0B9C-6A4A-884FD4C35659}"/>
              </a:ext>
            </a:extLst>
          </p:cNvPr>
          <p:cNvSpPr/>
          <p:nvPr/>
        </p:nvSpPr>
        <p:spPr>
          <a:xfrm>
            <a:off x="4475337" y="1315803"/>
            <a:ext cx="1325793" cy="9546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noProof="0">
                <a:solidFill>
                  <a:schemeClr val="tx1"/>
                </a:solidFill>
              </a:rPr>
              <a:t>X</a:t>
            </a:r>
          </a:p>
          <a:p>
            <a:pPr algn="ctr"/>
            <a:r>
              <a:rPr lang="en-US" sz="1200" noProof="0">
                <a:solidFill>
                  <a:schemeClr val="tx1"/>
                </a:solidFill>
              </a:rPr>
              <a:t>Gap Target vs actual cycle time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4FD72D-F149-B4EE-003E-11A875173B36}"/>
              </a:ext>
            </a:extLst>
          </p:cNvPr>
          <p:cNvSpPr/>
          <p:nvPr/>
        </p:nvSpPr>
        <p:spPr>
          <a:xfrm>
            <a:off x="1255027" y="2768902"/>
            <a:ext cx="1325792" cy="954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noProof="0">
                <a:solidFill>
                  <a:schemeClr val="tx1"/>
                </a:solidFill>
              </a:rPr>
              <a:t>227</a:t>
            </a:r>
          </a:p>
          <a:p>
            <a:pPr algn="ctr"/>
            <a:r>
              <a:rPr lang="en-US" sz="1200" noProof="0">
                <a:solidFill>
                  <a:schemeClr val="tx1"/>
                </a:solidFill>
              </a:rPr>
              <a:t>Production notes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A0B3D98-49B6-4967-2F79-A072C73614EA}"/>
              </a:ext>
            </a:extLst>
          </p:cNvPr>
          <p:cNvSpPr txBox="1"/>
          <p:nvPr/>
        </p:nvSpPr>
        <p:spPr>
          <a:xfrm>
            <a:off x="2568519" y="3291640"/>
            <a:ext cx="614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234</a:t>
            </a:r>
            <a:br>
              <a:rPr lang="en-US" sz="1100" noProof="0"/>
            </a:br>
            <a:r>
              <a:rPr lang="en-US" sz="1100" noProof="0"/>
              <a:t>trend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B54DE754-EEDB-348B-84A6-51CDCF1531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963" y="2768902"/>
            <a:ext cx="2188706" cy="1250690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654A97E4-0937-4583-2049-4DEFAE6D0934}"/>
              </a:ext>
            </a:extLst>
          </p:cNvPr>
          <p:cNvSpPr txBox="1"/>
          <p:nvPr/>
        </p:nvSpPr>
        <p:spPr>
          <a:xfrm>
            <a:off x="4028392" y="2403424"/>
            <a:ext cx="1929106" cy="280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/>
              <a:t>Production notes impacts</a:t>
            </a:r>
          </a:p>
        </p:txBody>
      </p:sp>
      <p:sp>
        <p:nvSpPr>
          <p:cNvPr id="40" name="Flèche : droite 39">
            <a:extLst>
              <a:ext uri="{FF2B5EF4-FFF2-40B4-BE49-F238E27FC236}">
                <a16:creationId xmlns:a16="http://schemas.microsoft.com/office/drawing/2014/main" id="{AA6C2B68-90DD-C26D-9834-5E22C952512E}"/>
              </a:ext>
            </a:extLst>
          </p:cNvPr>
          <p:cNvSpPr/>
          <p:nvPr/>
        </p:nvSpPr>
        <p:spPr>
          <a:xfrm>
            <a:off x="2644568" y="3003309"/>
            <a:ext cx="537980" cy="288331"/>
          </a:xfrm>
          <a:prstGeom prst="rightArrow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aphicFrame>
        <p:nvGraphicFramePr>
          <p:cNvPr id="41" name="Tableau 40">
            <a:extLst>
              <a:ext uri="{FF2B5EF4-FFF2-40B4-BE49-F238E27FC236}">
                <a16:creationId xmlns:a16="http://schemas.microsoft.com/office/drawing/2014/main" id="{AF63BC2E-4E6D-5F79-DF28-6DEBC1BD9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532493"/>
              </p:ext>
            </p:extLst>
          </p:nvPr>
        </p:nvGraphicFramePr>
        <p:xfrm>
          <a:off x="237065" y="1351463"/>
          <a:ext cx="4090106" cy="853440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1197140">
                  <a:extLst>
                    <a:ext uri="{9D8B030D-6E8A-4147-A177-3AD203B41FA5}">
                      <a16:colId xmlns:a16="http://schemas.microsoft.com/office/drawing/2014/main" val="1094188545"/>
                    </a:ext>
                  </a:extLst>
                </a:gridCol>
                <a:gridCol w="581070">
                  <a:extLst>
                    <a:ext uri="{9D8B030D-6E8A-4147-A177-3AD203B41FA5}">
                      <a16:colId xmlns:a16="http://schemas.microsoft.com/office/drawing/2014/main" val="2839627065"/>
                    </a:ext>
                  </a:extLst>
                </a:gridCol>
                <a:gridCol w="552305">
                  <a:extLst>
                    <a:ext uri="{9D8B030D-6E8A-4147-A177-3AD203B41FA5}">
                      <a16:colId xmlns:a16="http://schemas.microsoft.com/office/drawing/2014/main" val="3448169282"/>
                    </a:ext>
                  </a:extLst>
                </a:gridCol>
                <a:gridCol w="500526">
                  <a:extLst>
                    <a:ext uri="{9D8B030D-6E8A-4147-A177-3AD203B41FA5}">
                      <a16:colId xmlns:a16="http://schemas.microsoft.com/office/drawing/2014/main" val="4243525893"/>
                    </a:ext>
                  </a:extLst>
                </a:gridCol>
                <a:gridCol w="437121">
                  <a:extLst>
                    <a:ext uri="{9D8B030D-6E8A-4147-A177-3AD203B41FA5}">
                      <a16:colId xmlns:a16="http://schemas.microsoft.com/office/drawing/2014/main" val="2067071457"/>
                    </a:ext>
                  </a:extLst>
                </a:gridCol>
                <a:gridCol w="257641">
                  <a:extLst>
                    <a:ext uri="{9D8B030D-6E8A-4147-A177-3AD203B41FA5}">
                      <a16:colId xmlns:a16="http://schemas.microsoft.com/office/drawing/2014/main" val="3433613788"/>
                    </a:ext>
                  </a:extLst>
                </a:gridCol>
                <a:gridCol w="564303">
                  <a:extLst>
                    <a:ext uri="{9D8B030D-6E8A-4147-A177-3AD203B41FA5}">
                      <a16:colId xmlns:a16="http://schemas.microsoft.com/office/drawing/2014/main" val="1064053002"/>
                    </a:ext>
                  </a:extLst>
                </a:gridCol>
              </a:tblGrid>
              <a:tr h="32947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noProof="0">
                        <a:effectLst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effectLst/>
                        </a:rPr>
                        <a:t>Views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effectLst/>
                          <a:highlight>
                            <a:srgbClr val="FFFF00"/>
                          </a:highlight>
                        </a:rPr>
                        <a:t>Views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effectLst/>
                        </a:rPr>
                        <a:t>Users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effectLst/>
                          <a:highlight>
                            <a:srgbClr val="FFFF00"/>
                          </a:highlight>
                        </a:rPr>
                        <a:t>Days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effectLst/>
                        </a:rPr>
                        <a:t>View trend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624988"/>
                  </a:ext>
                </a:extLst>
              </a:tr>
              <a:tr h="329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effectLst/>
                        </a:rPr>
                        <a:t>Process Time Analyses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>
                          <a:effectLst/>
                        </a:rPr>
                        <a:t>794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>
                          <a:effectLst/>
                          <a:highlight>
                            <a:srgbClr val="FFFF00"/>
                          </a:highlight>
                        </a:rPr>
                        <a:t>41%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>
                          <a:effectLst/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>
                          <a:effectLst/>
                          <a:highlight>
                            <a:srgbClr val="FFFF00"/>
                          </a:highlight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solidFill>
                            <a:srgbClr val="00B050"/>
                          </a:solidFill>
                          <a:effectLst/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>
                          <a:effectLst/>
                        </a:rPr>
                        <a:t>18%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9710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83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C6850-1749-6317-C0FA-CDC096F2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ZoneTexte 17">
            <a:extLst>
              <a:ext uri="{FF2B5EF4-FFF2-40B4-BE49-F238E27FC236}">
                <a16:creationId xmlns:a16="http://schemas.microsoft.com/office/drawing/2014/main" id="{18B59B78-4184-0D47-4957-D647BCFD65B0}"/>
              </a:ext>
            </a:extLst>
          </p:cNvPr>
          <p:cNvSpPr txBox="1"/>
          <p:nvPr/>
        </p:nvSpPr>
        <p:spPr>
          <a:xfrm>
            <a:off x="176848" y="258761"/>
            <a:ext cx="5252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/>
              <a:t>Production Line Deployment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7F0A1EE-9F2E-2292-E431-1CDDA7228BA6}"/>
              </a:ext>
            </a:extLst>
          </p:cNvPr>
          <p:cNvSpPr txBox="1"/>
          <p:nvPr/>
        </p:nvSpPr>
        <p:spPr>
          <a:xfrm>
            <a:off x="176848" y="1813051"/>
            <a:ext cx="2555774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noProof="0"/>
              <a:t>User Activity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582A25B-1254-4955-D3DA-92A1D66C384A}"/>
              </a:ext>
            </a:extLst>
          </p:cNvPr>
          <p:cNvSpPr txBox="1"/>
          <p:nvPr/>
        </p:nvSpPr>
        <p:spPr>
          <a:xfrm>
            <a:off x="265005" y="9104075"/>
            <a:ext cx="5561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/>
              <a:t>Process Time &amp; Production Notes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4070511-AF2C-BAE7-23D7-F3EBADA36777}"/>
              </a:ext>
            </a:extLst>
          </p:cNvPr>
          <p:cNvSpPr txBox="1"/>
          <p:nvPr/>
        </p:nvSpPr>
        <p:spPr>
          <a:xfrm>
            <a:off x="195893" y="3471916"/>
            <a:ext cx="4673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/>
              <a:t>Data Quality &amp; Completeness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0081EA8-6BFF-822A-7B45-B514624DA7E3}"/>
              </a:ext>
            </a:extLst>
          </p:cNvPr>
          <p:cNvSpPr txBox="1"/>
          <p:nvPr/>
        </p:nvSpPr>
        <p:spPr>
          <a:xfrm>
            <a:off x="176848" y="6251526"/>
            <a:ext cx="3619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/>
              <a:t>AI Recommendation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085261-E771-A3FA-E84C-19B78D27E268}"/>
              </a:ext>
            </a:extLst>
          </p:cNvPr>
          <p:cNvSpPr/>
          <p:nvPr/>
        </p:nvSpPr>
        <p:spPr>
          <a:xfrm>
            <a:off x="272271" y="2410914"/>
            <a:ext cx="1800000" cy="780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45</a:t>
            </a:r>
          </a:p>
          <a:p>
            <a:pPr algn="ctr"/>
            <a:r>
              <a:rPr lang="en-US" sz="1200" noProof="0">
                <a:solidFill>
                  <a:prstClr val="black"/>
                </a:solidFill>
              </a:rPr>
              <a:t>Maltimize unique users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B489F4-BFCE-0982-A7D6-D1C808C4D4B7}"/>
              </a:ext>
            </a:extLst>
          </p:cNvPr>
          <p:cNvSpPr/>
          <p:nvPr/>
        </p:nvSpPr>
        <p:spPr>
          <a:xfrm>
            <a:off x="3423136" y="2390325"/>
            <a:ext cx="1800000" cy="8099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33</a:t>
            </a:r>
          </a:p>
          <a:p>
            <a:pPr lvl="0" algn="ctr">
              <a:defRPr/>
            </a:pPr>
            <a:r>
              <a:rPr lang="en-US" sz="1200" noProof="0">
                <a:solidFill>
                  <a:prstClr val="black"/>
                </a:solidFill>
              </a:rPr>
              <a:t>Dashboards PowerBI unique users</a:t>
            </a:r>
          </a:p>
        </p:txBody>
      </p:sp>
      <p:sp>
        <p:nvSpPr>
          <p:cNvPr id="48" name="Flèche : bas 47">
            <a:extLst>
              <a:ext uri="{FF2B5EF4-FFF2-40B4-BE49-F238E27FC236}">
                <a16:creationId xmlns:a16="http://schemas.microsoft.com/office/drawing/2014/main" id="{695F38A2-5FC2-98CB-1FC0-9A04E675377E}"/>
              </a:ext>
            </a:extLst>
          </p:cNvPr>
          <p:cNvSpPr/>
          <p:nvPr/>
        </p:nvSpPr>
        <p:spPr>
          <a:xfrm>
            <a:off x="5329184" y="2483682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39B2306-6654-5C48-01B9-3D9752D5B2F9}"/>
              </a:ext>
            </a:extLst>
          </p:cNvPr>
          <p:cNvSpPr txBox="1"/>
          <p:nvPr/>
        </p:nvSpPr>
        <p:spPr>
          <a:xfrm>
            <a:off x="5288575" y="2984561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51" name="Flèche : haut 50">
            <a:extLst>
              <a:ext uri="{FF2B5EF4-FFF2-40B4-BE49-F238E27FC236}">
                <a16:creationId xmlns:a16="http://schemas.microsoft.com/office/drawing/2014/main" id="{0D66B314-D343-2A35-F253-D49933F39146}"/>
              </a:ext>
            </a:extLst>
          </p:cNvPr>
          <p:cNvSpPr/>
          <p:nvPr/>
        </p:nvSpPr>
        <p:spPr>
          <a:xfrm>
            <a:off x="2225361" y="2486858"/>
            <a:ext cx="307085" cy="458819"/>
          </a:xfrm>
          <a:prstGeom prst="up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7616E053-8505-9816-EB88-DC1A86313417}"/>
              </a:ext>
            </a:extLst>
          </p:cNvPr>
          <p:cNvSpPr txBox="1"/>
          <p:nvPr/>
        </p:nvSpPr>
        <p:spPr>
          <a:xfrm>
            <a:off x="2189308" y="2938681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3DEDED79-A2B2-DD32-EC5A-0E1109F2F872}"/>
              </a:ext>
            </a:extLst>
          </p:cNvPr>
          <p:cNvSpPr txBox="1"/>
          <p:nvPr/>
        </p:nvSpPr>
        <p:spPr>
          <a:xfrm>
            <a:off x="205929" y="585882"/>
            <a:ext cx="1120934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i="1" noProof="0"/>
              <a:t>Data as of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533B90-ADBD-A21C-47D1-24B52BE33766}"/>
              </a:ext>
            </a:extLst>
          </p:cNvPr>
          <p:cNvSpPr/>
          <p:nvPr/>
        </p:nvSpPr>
        <p:spPr>
          <a:xfrm>
            <a:off x="1881954" y="837540"/>
            <a:ext cx="1440000" cy="8808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14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Metamodels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72852F-F4BD-D71C-7D53-1F7C2EC79DBB}"/>
              </a:ext>
            </a:extLst>
          </p:cNvPr>
          <p:cNvSpPr/>
          <p:nvPr/>
        </p:nvSpPr>
        <p:spPr>
          <a:xfrm>
            <a:off x="3430221" y="847458"/>
            <a:ext cx="1440000" cy="8808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7</a:t>
            </a:r>
          </a:p>
          <a:p>
            <a:pPr lvl="0" algn="ctr">
              <a:defRPr/>
            </a:pPr>
            <a:r>
              <a:rPr lang="en-US" sz="1200" noProof="0">
                <a:solidFill>
                  <a:prstClr val="black"/>
                </a:solidFill>
              </a:rPr>
              <a:t>T0 Target -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Recommendations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8B1E8C-8B14-7303-D8B7-739F4408B804}"/>
              </a:ext>
            </a:extLst>
          </p:cNvPr>
          <p:cNvSpPr/>
          <p:nvPr/>
        </p:nvSpPr>
        <p:spPr>
          <a:xfrm>
            <a:off x="4967905" y="844568"/>
            <a:ext cx="1440000" cy="8808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6</a:t>
            </a: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schemeClr val="tx1"/>
                </a:solidFill>
              </a:rPr>
              <a:t>Time Tracking &amp; Production Notes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0DE399-FE93-242F-4EB7-E6F72CBF1AA4}"/>
              </a:ext>
            </a:extLst>
          </p:cNvPr>
          <p:cNvSpPr/>
          <p:nvPr/>
        </p:nvSpPr>
        <p:spPr>
          <a:xfrm>
            <a:off x="269151" y="844568"/>
            <a:ext cx="1440000" cy="8808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14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 digitalization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7FBB3C5-78A9-68F0-B5B0-E40E6253D5D8}"/>
              </a:ext>
            </a:extLst>
          </p:cNvPr>
          <p:cNvSpPr txBox="1"/>
          <p:nvPr/>
        </p:nvSpPr>
        <p:spPr>
          <a:xfrm>
            <a:off x="215678" y="2120240"/>
            <a:ext cx="1190886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i="1" noProof="0"/>
              <a:t>Last 30 days of 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227C9B-2B90-AB62-62CF-581E4331ACC5}"/>
              </a:ext>
            </a:extLst>
          </p:cNvPr>
          <p:cNvSpPr/>
          <p:nvPr/>
        </p:nvSpPr>
        <p:spPr>
          <a:xfrm>
            <a:off x="4351780" y="4083120"/>
            <a:ext cx="1800000" cy="7974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12 % </a:t>
            </a:r>
            <a:br>
              <a:rPr lang="en-US" sz="1200" noProof="0">
                <a:solidFill>
                  <a:schemeClr val="tx1"/>
                </a:solidFill>
              </a:rPr>
            </a:br>
            <a:r>
              <a:rPr lang="en-US" sz="1200" noProof="0">
                <a:solidFill>
                  <a:schemeClr val="tx1"/>
                </a:solidFill>
              </a:rPr>
              <a:t>Missing manual entries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0FD9DD-891F-DC2A-B8A1-86D9AA800CDF}"/>
              </a:ext>
            </a:extLst>
          </p:cNvPr>
          <p:cNvSpPr/>
          <p:nvPr/>
        </p:nvSpPr>
        <p:spPr>
          <a:xfrm>
            <a:off x="1881954" y="4076744"/>
            <a:ext cx="1699550" cy="7907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24,3 % </a:t>
            </a:r>
            <a:br>
              <a:rPr lang="en-US" sz="1200" noProof="0">
                <a:solidFill>
                  <a:schemeClr val="tx1"/>
                </a:solidFill>
              </a:rPr>
            </a:br>
            <a:r>
              <a:rPr lang="en-US" sz="1200" noProof="0">
                <a:solidFill>
                  <a:schemeClr val="tx1"/>
                </a:solidFill>
              </a:rPr>
              <a:t>Uncaptured Aveva data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CBBA6C7B-37BC-3E56-02A3-45B1AACEA869}"/>
              </a:ext>
            </a:extLst>
          </p:cNvPr>
          <p:cNvSpPr txBox="1"/>
          <p:nvPr/>
        </p:nvSpPr>
        <p:spPr>
          <a:xfrm>
            <a:off x="183915" y="4062881"/>
            <a:ext cx="1271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/>
              <a:t>Recommendations blocked by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E84423-864B-720B-FCBB-D8B146A38619}"/>
              </a:ext>
            </a:extLst>
          </p:cNvPr>
          <p:cNvSpPr/>
          <p:nvPr/>
        </p:nvSpPr>
        <p:spPr>
          <a:xfrm>
            <a:off x="1877187" y="5058928"/>
            <a:ext cx="1715893" cy="912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X % </a:t>
            </a:r>
            <a:br>
              <a:rPr lang="en-US" sz="1200" noProof="0">
                <a:solidFill>
                  <a:schemeClr val="tx1"/>
                </a:solidFill>
              </a:rPr>
            </a:br>
            <a:r>
              <a:rPr lang="en-US" sz="1200" noProof="0">
                <a:solidFill>
                  <a:schemeClr val="tx1"/>
                </a:solidFill>
              </a:rPr>
              <a:t>Batches  with missing SAP mandatory data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4EE918F9-8DD4-4092-7F96-9BE20A1BBC14}"/>
              </a:ext>
            </a:extLst>
          </p:cNvPr>
          <p:cNvSpPr txBox="1"/>
          <p:nvPr/>
        </p:nvSpPr>
        <p:spPr>
          <a:xfrm>
            <a:off x="176848" y="5098084"/>
            <a:ext cx="1387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/>
              <a:t>Incomplete SAP results in  dataplatform</a:t>
            </a:r>
          </a:p>
        </p:txBody>
      </p:sp>
      <p:sp>
        <p:nvSpPr>
          <p:cNvPr id="38" name="Flèche : haut 37">
            <a:extLst>
              <a:ext uri="{FF2B5EF4-FFF2-40B4-BE49-F238E27FC236}">
                <a16:creationId xmlns:a16="http://schemas.microsoft.com/office/drawing/2014/main" id="{03810B71-5F1F-4B56-F697-53875B038867}"/>
              </a:ext>
            </a:extLst>
          </p:cNvPr>
          <p:cNvSpPr/>
          <p:nvPr/>
        </p:nvSpPr>
        <p:spPr>
          <a:xfrm>
            <a:off x="3838713" y="4217818"/>
            <a:ext cx="307085" cy="458819"/>
          </a:xfrm>
          <a:prstGeom prst="up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9" name="Flèche : bas 38">
            <a:extLst>
              <a:ext uri="{FF2B5EF4-FFF2-40B4-BE49-F238E27FC236}">
                <a16:creationId xmlns:a16="http://schemas.microsoft.com/office/drawing/2014/main" id="{76983E0F-6520-2AE2-C647-3824252D83FD}"/>
              </a:ext>
            </a:extLst>
          </p:cNvPr>
          <p:cNvSpPr/>
          <p:nvPr/>
        </p:nvSpPr>
        <p:spPr>
          <a:xfrm>
            <a:off x="6315027" y="4179877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5FC15FD1-26C1-3FCE-F01C-0CD159A901F0}"/>
              </a:ext>
            </a:extLst>
          </p:cNvPr>
          <p:cNvSpPr txBox="1"/>
          <p:nvPr/>
        </p:nvSpPr>
        <p:spPr>
          <a:xfrm>
            <a:off x="3536785" y="4633336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993BABF-D5DB-C8CD-FFBD-67D955B298CF}"/>
              </a:ext>
            </a:extLst>
          </p:cNvPr>
          <p:cNvSpPr txBox="1"/>
          <p:nvPr/>
        </p:nvSpPr>
        <p:spPr>
          <a:xfrm>
            <a:off x="6274418" y="4680756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9D661E1-022F-7548-E5FE-B5C8CDF0DDBC}"/>
              </a:ext>
            </a:extLst>
          </p:cNvPr>
          <p:cNvSpPr/>
          <p:nvPr/>
        </p:nvSpPr>
        <p:spPr>
          <a:xfrm>
            <a:off x="4351780" y="5096808"/>
            <a:ext cx="1800000" cy="8729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X % </a:t>
            </a:r>
            <a:br>
              <a:rPr lang="en-US" sz="1600" b="1" noProof="0">
                <a:solidFill>
                  <a:schemeClr val="tx1"/>
                </a:solidFill>
              </a:rPr>
            </a:br>
            <a:r>
              <a:rPr lang="en-US" sz="1200" noProof="0">
                <a:solidFill>
                  <a:schemeClr val="tx1"/>
                </a:solidFill>
              </a:rPr>
              <a:t>Mandatory SAP data  missing</a:t>
            </a:r>
          </a:p>
        </p:txBody>
      </p:sp>
      <p:sp>
        <p:nvSpPr>
          <p:cNvPr id="46" name="Flèche : bas 45">
            <a:extLst>
              <a:ext uri="{FF2B5EF4-FFF2-40B4-BE49-F238E27FC236}">
                <a16:creationId xmlns:a16="http://schemas.microsoft.com/office/drawing/2014/main" id="{26F6C41B-7D7E-F4F6-9404-8A854D36A5DA}"/>
              </a:ext>
            </a:extLst>
          </p:cNvPr>
          <p:cNvSpPr/>
          <p:nvPr/>
        </p:nvSpPr>
        <p:spPr>
          <a:xfrm>
            <a:off x="6315027" y="5257075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BCD8C504-584C-CD4A-0976-E87457ADAD20}"/>
              </a:ext>
            </a:extLst>
          </p:cNvPr>
          <p:cNvSpPr txBox="1"/>
          <p:nvPr/>
        </p:nvSpPr>
        <p:spPr>
          <a:xfrm>
            <a:off x="6274418" y="5757954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49" name="Flèche : haut 48">
            <a:extLst>
              <a:ext uri="{FF2B5EF4-FFF2-40B4-BE49-F238E27FC236}">
                <a16:creationId xmlns:a16="http://schemas.microsoft.com/office/drawing/2014/main" id="{225F5ACE-7916-F469-E091-C94C1ED74ED9}"/>
              </a:ext>
            </a:extLst>
          </p:cNvPr>
          <p:cNvSpPr/>
          <p:nvPr/>
        </p:nvSpPr>
        <p:spPr>
          <a:xfrm>
            <a:off x="3861424" y="5262492"/>
            <a:ext cx="307085" cy="458819"/>
          </a:xfrm>
          <a:prstGeom prst="up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29B0F483-7B15-E481-E8B5-CFCE5B54B0AB}"/>
              </a:ext>
            </a:extLst>
          </p:cNvPr>
          <p:cNvSpPr txBox="1"/>
          <p:nvPr/>
        </p:nvSpPr>
        <p:spPr>
          <a:xfrm>
            <a:off x="3559496" y="5678010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BCF207-9E3B-CC33-8726-7ABD13CC0565}"/>
              </a:ext>
            </a:extLst>
          </p:cNvPr>
          <p:cNvSpPr/>
          <p:nvPr/>
        </p:nvSpPr>
        <p:spPr>
          <a:xfrm>
            <a:off x="2264586" y="6970948"/>
            <a:ext cx="1682803" cy="7899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noProof="0">
                <a:solidFill>
                  <a:schemeClr val="tx1"/>
                </a:solidFill>
              </a:rPr>
              <a:t>% </a:t>
            </a:r>
            <a:br>
              <a:rPr lang="en-US" sz="1400" noProof="0">
                <a:solidFill>
                  <a:schemeClr val="tx1"/>
                </a:solidFill>
              </a:rPr>
            </a:br>
            <a:r>
              <a:rPr lang="en-US" sz="1400" noProof="0">
                <a:solidFill>
                  <a:schemeClr val="tx1"/>
                </a:solidFill>
              </a:rPr>
              <a:t>Spec‑compliant AI recommendations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5C185A-1117-78C3-75C5-2C4DE8E26D49}"/>
              </a:ext>
            </a:extLst>
          </p:cNvPr>
          <p:cNvSpPr/>
          <p:nvPr/>
        </p:nvSpPr>
        <p:spPr>
          <a:xfrm>
            <a:off x="2265851" y="8063376"/>
            <a:ext cx="1676365" cy="790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noProof="0">
                <a:solidFill>
                  <a:schemeClr val="tx1"/>
                </a:solidFill>
              </a:rPr>
              <a:t>X</a:t>
            </a:r>
            <a:br>
              <a:rPr lang="en-US" sz="1400" noProof="0">
                <a:solidFill>
                  <a:schemeClr val="tx1"/>
                </a:solidFill>
              </a:rPr>
            </a:br>
            <a:r>
              <a:rPr lang="en-US" sz="1400" noProof="0">
                <a:solidFill>
                  <a:schemeClr val="tx1"/>
                </a:solidFill>
              </a:rPr>
              <a:t>Average AI malt yield (R2)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851577-C919-0FEB-E438-58ADCC530B45}"/>
              </a:ext>
            </a:extLst>
          </p:cNvPr>
          <p:cNvSpPr/>
          <p:nvPr/>
        </p:nvSpPr>
        <p:spPr>
          <a:xfrm>
            <a:off x="4582791" y="8052050"/>
            <a:ext cx="1558364" cy="7867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noProof="0">
                <a:solidFill>
                  <a:schemeClr val="tx1"/>
                </a:solidFill>
              </a:rPr>
              <a:t>X</a:t>
            </a:r>
          </a:p>
          <a:p>
            <a:pPr algn="ctr"/>
            <a:r>
              <a:rPr lang="en-US" sz="1400" noProof="0">
                <a:solidFill>
                  <a:schemeClr val="tx1"/>
                </a:solidFill>
              </a:rPr>
              <a:t>Average Real malt yield (R2)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AC8F93-B824-4C18-282A-F592D61CBC6C}"/>
              </a:ext>
            </a:extLst>
          </p:cNvPr>
          <p:cNvSpPr/>
          <p:nvPr/>
        </p:nvSpPr>
        <p:spPr>
          <a:xfrm>
            <a:off x="269151" y="6970949"/>
            <a:ext cx="1428850" cy="8033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77 %</a:t>
            </a:r>
          </a:p>
          <a:p>
            <a:pPr lvl="0" algn="ctr">
              <a:defRPr/>
            </a:pPr>
            <a:r>
              <a:rPr lang="en-US" sz="1200" noProof="0">
                <a:solidFill>
                  <a:prstClr val="black"/>
                </a:solidFill>
                <a:latin typeface="Aptos" panose="02110004020202020204"/>
              </a:rPr>
              <a:t>available recommendations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ACE789-F09A-EEFA-F751-DB43983CC6C7}"/>
              </a:ext>
            </a:extLst>
          </p:cNvPr>
          <p:cNvSpPr/>
          <p:nvPr/>
        </p:nvSpPr>
        <p:spPr>
          <a:xfrm>
            <a:off x="4593416" y="6970948"/>
            <a:ext cx="1558364" cy="7974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noProof="0">
                <a:solidFill>
                  <a:schemeClr val="tx1"/>
                </a:solidFill>
              </a:rPr>
              <a:t>% </a:t>
            </a:r>
            <a:br>
              <a:rPr lang="en-US" sz="1400" noProof="0">
                <a:solidFill>
                  <a:schemeClr val="tx1"/>
                </a:solidFill>
              </a:rPr>
            </a:br>
            <a:r>
              <a:rPr lang="en-US" sz="1400" noProof="0">
                <a:solidFill>
                  <a:schemeClr val="tx1"/>
                </a:solidFill>
              </a:rPr>
              <a:t>Spec‑compliant output batches</a:t>
            </a:r>
          </a:p>
        </p:txBody>
      </p:sp>
      <p:sp>
        <p:nvSpPr>
          <p:cNvPr id="29" name="Flèche : haut 28">
            <a:extLst>
              <a:ext uri="{FF2B5EF4-FFF2-40B4-BE49-F238E27FC236}">
                <a16:creationId xmlns:a16="http://schemas.microsoft.com/office/drawing/2014/main" id="{D297F7D7-F1F2-3D99-84AC-6B8CD4CD2AF4}"/>
              </a:ext>
            </a:extLst>
          </p:cNvPr>
          <p:cNvSpPr/>
          <p:nvPr/>
        </p:nvSpPr>
        <p:spPr>
          <a:xfrm>
            <a:off x="1740501" y="7136507"/>
            <a:ext cx="307085" cy="458819"/>
          </a:xfrm>
          <a:prstGeom prst="up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FFE34AE-62C6-943A-74F7-909EAA24683B}"/>
              </a:ext>
            </a:extLst>
          </p:cNvPr>
          <p:cNvSpPr txBox="1"/>
          <p:nvPr/>
        </p:nvSpPr>
        <p:spPr>
          <a:xfrm>
            <a:off x="1698001" y="7594422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D726505-B9E3-EF5A-3F0A-FBAB8485ABDD}"/>
              </a:ext>
            </a:extLst>
          </p:cNvPr>
          <p:cNvSpPr txBox="1"/>
          <p:nvPr/>
        </p:nvSpPr>
        <p:spPr>
          <a:xfrm>
            <a:off x="4132986" y="7171899"/>
            <a:ext cx="58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/>
              <a:t>VS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D795557-DB75-5E0C-1D9A-CB98E2458258}"/>
              </a:ext>
            </a:extLst>
          </p:cNvPr>
          <p:cNvSpPr txBox="1"/>
          <p:nvPr/>
        </p:nvSpPr>
        <p:spPr>
          <a:xfrm>
            <a:off x="4141715" y="8335620"/>
            <a:ext cx="597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/>
              <a:t>VS</a:t>
            </a:r>
          </a:p>
        </p:txBody>
      </p:sp>
      <p:sp>
        <p:nvSpPr>
          <p:cNvPr id="37" name="Flèche : bas 36">
            <a:extLst>
              <a:ext uri="{FF2B5EF4-FFF2-40B4-BE49-F238E27FC236}">
                <a16:creationId xmlns:a16="http://schemas.microsoft.com/office/drawing/2014/main" id="{3749916B-EBE3-40D5-C0A1-88F3716CDE7F}"/>
              </a:ext>
            </a:extLst>
          </p:cNvPr>
          <p:cNvSpPr/>
          <p:nvPr/>
        </p:nvSpPr>
        <p:spPr>
          <a:xfrm>
            <a:off x="6203929" y="8261563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CEA6A21F-0122-EA97-3374-8B0A758FB10C}"/>
              </a:ext>
            </a:extLst>
          </p:cNvPr>
          <p:cNvSpPr txBox="1"/>
          <p:nvPr/>
        </p:nvSpPr>
        <p:spPr>
          <a:xfrm>
            <a:off x="6241138" y="8729551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55" name="Flèche : bas 54">
            <a:extLst>
              <a:ext uri="{FF2B5EF4-FFF2-40B4-BE49-F238E27FC236}">
                <a16:creationId xmlns:a16="http://schemas.microsoft.com/office/drawing/2014/main" id="{FC8D56F3-FE5C-D1B9-5255-38D523C84254}"/>
              </a:ext>
            </a:extLst>
          </p:cNvPr>
          <p:cNvSpPr/>
          <p:nvPr/>
        </p:nvSpPr>
        <p:spPr>
          <a:xfrm>
            <a:off x="3918871" y="7064985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75AD84CE-17E7-81F1-406E-CDB066EA820C}"/>
              </a:ext>
            </a:extLst>
          </p:cNvPr>
          <p:cNvSpPr txBox="1"/>
          <p:nvPr/>
        </p:nvSpPr>
        <p:spPr>
          <a:xfrm>
            <a:off x="3919353" y="7565207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57" name="Flèche : haut 56">
            <a:extLst>
              <a:ext uri="{FF2B5EF4-FFF2-40B4-BE49-F238E27FC236}">
                <a16:creationId xmlns:a16="http://schemas.microsoft.com/office/drawing/2014/main" id="{C45D065B-BA9E-3EC7-E1F1-5AA65372F65D}"/>
              </a:ext>
            </a:extLst>
          </p:cNvPr>
          <p:cNvSpPr/>
          <p:nvPr/>
        </p:nvSpPr>
        <p:spPr>
          <a:xfrm>
            <a:off x="3914123" y="8240071"/>
            <a:ext cx="307085" cy="458819"/>
          </a:xfrm>
          <a:prstGeom prst="up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7132E94C-6020-E5ED-DD5A-E70F0A8EEB2D}"/>
              </a:ext>
            </a:extLst>
          </p:cNvPr>
          <p:cNvSpPr txBox="1"/>
          <p:nvPr/>
        </p:nvSpPr>
        <p:spPr>
          <a:xfrm>
            <a:off x="3914123" y="8691382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62" name="Flèche : haut 61">
            <a:extLst>
              <a:ext uri="{FF2B5EF4-FFF2-40B4-BE49-F238E27FC236}">
                <a16:creationId xmlns:a16="http://schemas.microsoft.com/office/drawing/2014/main" id="{FF951810-C6BB-4C64-05FA-29177B1F2166}"/>
              </a:ext>
            </a:extLst>
          </p:cNvPr>
          <p:cNvSpPr/>
          <p:nvPr/>
        </p:nvSpPr>
        <p:spPr>
          <a:xfrm>
            <a:off x="6209200" y="7045873"/>
            <a:ext cx="307085" cy="458819"/>
          </a:xfrm>
          <a:prstGeom prst="up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1EB82D98-76A3-B003-84B2-C4AD72C3E0B3}"/>
              </a:ext>
            </a:extLst>
          </p:cNvPr>
          <p:cNvSpPr txBox="1"/>
          <p:nvPr/>
        </p:nvSpPr>
        <p:spPr>
          <a:xfrm>
            <a:off x="6209270" y="7484510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6A0662E-F585-9531-580E-96DC8E6C82AE}"/>
              </a:ext>
            </a:extLst>
          </p:cNvPr>
          <p:cNvSpPr/>
          <p:nvPr/>
        </p:nvSpPr>
        <p:spPr>
          <a:xfrm>
            <a:off x="271770" y="8052049"/>
            <a:ext cx="1428850" cy="803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0">
                <a:solidFill>
                  <a:schemeClr val="tx1"/>
                </a:solidFill>
              </a:rPr>
              <a:t>X 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prstClr val="black"/>
                </a:solidFill>
                <a:latin typeface="Aptos" panose="02110004020202020204"/>
              </a:rPr>
              <a:t>declared applied recommendations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Flèche : bas 3">
            <a:extLst>
              <a:ext uri="{FF2B5EF4-FFF2-40B4-BE49-F238E27FC236}">
                <a16:creationId xmlns:a16="http://schemas.microsoft.com/office/drawing/2014/main" id="{9CCE9922-AF6B-17E1-3F4A-E884AAA80639}"/>
              </a:ext>
            </a:extLst>
          </p:cNvPr>
          <p:cNvSpPr/>
          <p:nvPr/>
        </p:nvSpPr>
        <p:spPr>
          <a:xfrm>
            <a:off x="6203929" y="9764989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9455272-20BD-E506-A559-24B1F0077C1F}"/>
              </a:ext>
            </a:extLst>
          </p:cNvPr>
          <p:cNvSpPr txBox="1"/>
          <p:nvPr/>
        </p:nvSpPr>
        <p:spPr>
          <a:xfrm>
            <a:off x="6153300" y="10206010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45C36C-A0B4-79E3-3077-29B6B8ECA4B9}"/>
              </a:ext>
            </a:extLst>
          </p:cNvPr>
          <p:cNvSpPr/>
          <p:nvPr/>
        </p:nvSpPr>
        <p:spPr>
          <a:xfrm>
            <a:off x="4593416" y="9699847"/>
            <a:ext cx="1558364" cy="744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noProof="0">
                <a:solidFill>
                  <a:schemeClr val="tx1"/>
                </a:solidFill>
              </a:rPr>
              <a:t>X</a:t>
            </a:r>
          </a:p>
          <a:p>
            <a:pPr algn="ctr"/>
            <a:r>
              <a:rPr lang="en-US" sz="1200" noProof="0">
                <a:solidFill>
                  <a:schemeClr val="tx1"/>
                </a:solidFill>
              </a:rPr>
              <a:t>Gap Target vs actual cycle 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5A7548-2C0C-5715-EA90-0152276CD72E}"/>
              </a:ext>
            </a:extLst>
          </p:cNvPr>
          <p:cNvSpPr/>
          <p:nvPr/>
        </p:nvSpPr>
        <p:spPr>
          <a:xfrm>
            <a:off x="1309944" y="10735137"/>
            <a:ext cx="1325792" cy="954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noProof="0">
                <a:solidFill>
                  <a:schemeClr val="tx1"/>
                </a:solidFill>
              </a:rPr>
              <a:t>227</a:t>
            </a:r>
          </a:p>
          <a:p>
            <a:pPr algn="ctr"/>
            <a:r>
              <a:rPr lang="en-US" sz="1200" noProof="0">
                <a:solidFill>
                  <a:schemeClr val="tx1"/>
                </a:solidFill>
              </a:rPr>
              <a:t>Production notes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D7AF171-2282-BC9A-8844-EE260646808B}"/>
              </a:ext>
            </a:extLst>
          </p:cNvPr>
          <p:cNvSpPr txBox="1"/>
          <p:nvPr/>
        </p:nvSpPr>
        <p:spPr>
          <a:xfrm>
            <a:off x="2623436" y="11257875"/>
            <a:ext cx="614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234</a:t>
            </a:r>
            <a:br>
              <a:rPr lang="en-US" sz="1100" noProof="0"/>
            </a:br>
            <a:r>
              <a:rPr lang="en-US" sz="1100" noProof="0"/>
              <a:t>trend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F3822861-A7EA-6936-CC02-C94A5E104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394" y="10621295"/>
            <a:ext cx="1929107" cy="1102348"/>
          </a:xfrm>
          <a:prstGeom prst="rect">
            <a:avLst/>
          </a:prstGeom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75384175-35CE-157A-66F8-DDD1158A2318}"/>
              </a:ext>
            </a:extLst>
          </p:cNvPr>
          <p:cNvSpPr txBox="1"/>
          <p:nvPr/>
        </p:nvSpPr>
        <p:spPr>
          <a:xfrm>
            <a:off x="3989771" y="10637756"/>
            <a:ext cx="1929106" cy="280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/>
              <a:t>Impact types</a:t>
            </a:r>
          </a:p>
        </p:txBody>
      </p:sp>
      <p:sp>
        <p:nvSpPr>
          <p:cNvPr id="42" name="Flèche : droite 41">
            <a:extLst>
              <a:ext uri="{FF2B5EF4-FFF2-40B4-BE49-F238E27FC236}">
                <a16:creationId xmlns:a16="http://schemas.microsoft.com/office/drawing/2014/main" id="{5316F8E3-D595-3D66-B6AD-606F52313ECE}"/>
              </a:ext>
            </a:extLst>
          </p:cNvPr>
          <p:cNvSpPr/>
          <p:nvPr/>
        </p:nvSpPr>
        <p:spPr>
          <a:xfrm>
            <a:off x="2699485" y="10969544"/>
            <a:ext cx="537980" cy="288331"/>
          </a:xfrm>
          <a:prstGeom prst="rightArrow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aphicFrame>
        <p:nvGraphicFramePr>
          <p:cNvPr id="52" name="Tableau 51">
            <a:extLst>
              <a:ext uri="{FF2B5EF4-FFF2-40B4-BE49-F238E27FC236}">
                <a16:creationId xmlns:a16="http://schemas.microsoft.com/office/drawing/2014/main" id="{D8657822-FE7B-697F-81A9-98736D538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848042"/>
              </p:ext>
            </p:extLst>
          </p:nvPr>
        </p:nvGraphicFramePr>
        <p:xfrm>
          <a:off x="1339380" y="9699847"/>
          <a:ext cx="3021377" cy="775114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580656">
                  <a:extLst>
                    <a:ext uri="{9D8B030D-6E8A-4147-A177-3AD203B41FA5}">
                      <a16:colId xmlns:a16="http://schemas.microsoft.com/office/drawing/2014/main" val="2839627065"/>
                    </a:ext>
                  </a:extLst>
                </a:gridCol>
                <a:gridCol w="669229">
                  <a:extLst>
                    <a:ext uri="{9D8B030D-6E8A-4147-A177-3AD203B41FA5}">
                      <a16:colId xmlns:a16="http://schemas.microsoft.com/office/drawing/2014/main" val="3448169282"/>
                    </a:ext>
                  </a:extLst>
                </a:gridCol>
                <a:gridCol w="595035">
                  <a:extLst>
                    <a:ext uri="{9D8B030D-6E8A-4147-A177-3AD203B41FA5}">
                      <a16:colId xmlns:a16="http://schemas.microsoft.com/office/drawing/2014/main" val="4243525893"/>
                    </a:ext>
                  </a:extLst>
                </a:gridCol>
                <a:gridCol w="502099">
                  <a:extLst>
                    <a:ext uri="{9D8B030D-6E8A-4147-A177-3AD203B41FA5}">
                      <a16:colId xmlns:a16="http://schemas.microsoft.com/office/drawing/2014/main" val="2067071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33613788"/>
                    </a:ext>
                  </a:extLst>
                </a:gridCol>
                <a:gridCol w="466078">
                  <a:extLst>
                    <a:ext uri="{9D8B030D-6E8A-4147-A177-3AD203B41FA5}">
                      <a16:colId xmlns:a16="http://schemas.microsoft.com/office/drawing/2014/main" val="1064053002"/>
                    </a:ext>
                  </a:extLst>
                </a:gridCol>
              </a:tblGrid>
              <a:tr h="43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effectLst/>
                        </a:rPr>
                        <a:t>Views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effectLst/>
                        </a:rPr>
                        <a:t>Views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effectLst/>
                        </a:rPr>
                        <a:t>Users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effectLst/>
                        </a:rPr>
                        <a:t>Days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effectLst/>
                        </a:rPr>
                        <a:t>View trend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624988"/>
                  </a:ext>
                </a:extLst>
              </a:tr>
              <a:tr h="337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>
                          <a:effectLst/>
                        </a:rPr>
                        <a:t>794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>
                          <a:effectLst/>
                        </a:rPr>
                        <a:t>41%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>
                          <a:effectLst/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>
                          <a:effectLst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>
                          <a:solidFill>
                            <a:srgbClr val="00B050"/>
                          </a:solidFill>
                          <a:effectLst/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>
                          <a:effectLst/>
                        </a:rPr>
                        <a:t>18%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9710601"/>
                  </a:ext>
                </a:extLst>
              </a:tr>
            </a:tbl>
          </a:graphicData>
        </a:graphic>
      </p:graphicFrame>
      <p:sp>
        <p:nvSpPr>
          <p:cNvPr id="59" name="ZoneTexte 58">
            <a:extLst>
              <a:ext uri="{FF2B5EF4-FFF2-40B4-BE49-F238E27FC236}">
                <a16:creationId xmlns:a16="http://schemas.microsoft.com/office/drawing/2014/main" id="{2A08E70A-F2F6-D9E3-1C6A-F83F3E970236}"/>
              </a:ext>
            </a:extLst>
          </p:cNvPr>
          <p:cNvSpPr txBox="1"/>
          <p:nvPr/>
        </p:nvSpPr>
        <p:spPr>
          <a:xfrm>
            <a:off x="213493" y="3807546"/>
            <a:ext cx="1190886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i="1" noProof="0"/>
              <a:t>Last 30 days of data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C8B707A1-F38E-DDD7-2F14-14F1943D2020}"/>
              </a:ext>
            </a:extLst>
          </p:cNvPr>
          <p:cNvSpPr txBox="1"/>
          <p:nvPr/>
        </p:nvSpPr>
        <p:spPr>
          <a:xfrm>
            <a:off x="263849" y="6628337"/>
            <a:ext cx="1190886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i="1" noProof="0"/>
              <a:t>Last 30 days of data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78C0FF86-0A98-11F2-37D5-214CCAE5F266}"/>
              </a:ext>
            </a:extLst>
          </p:cNvPr>
          <p:cNvSpPr txBox="1"/>
          <p:nvPr/>
        </p:nvSpPr>
        <p:spPr>
          <a:xfrm>
            <a:off x="133047" y="10734849"/>
            <a:ext cx="1271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/>
              <a:t>Production notes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BB353C45-DABF-FA10-19EA-38D48E401FE5}"/>
              </a:ext>
            </a:extLst>
          </p:cNvPr>
          <p:cNvSpPr txBox="1"/>
          <p:nvPr/>
        </p:nvSpPr>
        <p:spPr>
          <a:xfrm>
            <a:off x="143149" y="9672409"/>
            <a:ext cx="1271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/>
              <a:t>Process time dashboard</a:t>
            </a:r>
          </a:p>
        </p:txBody>
      </p:sp>
      <p:sp>
        <p:nvSpPr>
          <p:cNvPr id="69" name="Flèche : bas 68">
            <a:extLst>
              <a:ext uri="{FF2B5EF4-FFF2-40B4-BE49-F238E27FC236}">
                <a16:creationId xmlns:a16="http://schemas.microsoft.com/office/drawing/2014/main" id="{3A233DDB-D5A7-B194-AE1D-B3B0E0A6DA6E}"/>
              </a:ext>
            </a:extLst>
          </p:cNvPr>
          <p:cNvSpPr/>
          <p:nvPr/>
        </p:nvSpPr>
        <p:spPr>
          <a:xfrm>
            <a:off x="1727391" y="8136836"/>
            <a:ext cx="290576" cy="51914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3EFB24E-4D08-EA8F-9DED-E73968CCE1E7}"/>
              </a:ext>
            </a:extLst>
          </p:cNvPr>
          <p:cNvSpPr txBox="1"/>
          <p:nvPr/>
        </p:nvSpPr>
        <p:spPr>
          <a:xfrm>
            <a:off x="1724338" y="8625172"/>
            <a:ext cx="614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/>
              <a:t>trend</a:t>
            </a:r>
          </a:p>
        </p:txBody>
      </p:sp>
    </p:spTree>
    <p:extLst>
      <p:ext uri="{BB962C8B-B14F-4D97-AF65-F5344CB8AC3E}">
        <p14:creationId xmlns:p14="http://schemas.microsoft.com/office/powerpoint/2010/main" val="19759827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325D38F23CDB45B2B04E0C1A16DB60" ma:contentTypeVersion="15" ma:contentTypeDescription="Crée un document." ma:contentTypeScope="" ma:versionID="7ad893860269fb42add73f1a4ae87287">
  <xsd:schema xmlns:xsd="http://www.w3.org/2001/XMLSchema" xmlns:xs="http://www.w3.org/2001/XMLSchema" xmlns:p="http://schemas.microsoft.com/office/2006/metadata/properties" xmlns:ns2="1e2b08fb-a754-484b-8a80-f876b066c746" xmlns:ns3="04997f55-c607-4223-8358-1c3b2ee4a9db" targetNamespace="http://schemas.microsoft.com/office/2006/metadata/properties" ma:root="true" ma:fieldsID="7edb3d50874fdf6f99d5cfea16008d9c" ns2:_="" ns3:_="">
    <xsd:import namespace="1e2b08fb-a754-484b-8a80-f876b066c746"/>
    <xsd:import namespace="04997f55-c607-4223-8358-1c3b2ee4a9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2b08fb-a754-484b-8a80-f876b066c7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237cf616-87ee-4e83-a220-9de32941d3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Notes" ma:index="22" nillable="true" ma:displayName="Notes" ma:description="Notes diverses du créateur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997f55-c607-4223-8358-1c3b2ee4a9d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43ec9262-1fb2-42fd-8251-1854256a61fd}" ma:internalName="TaxCatchAll" ma:showField="CatchAllData" ma:web="04997f55-c607-4223-8358-1c3b2ee4a9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2b08fb-a754-484b-8a80-f876b066c746">
      <Terms xmlns="http://schemas.microsoft.com/office/infopath/2007/PartnerControls"/>
    </lcf76f155ced4ddcb4097134ff3c332f>
    <Notes xmlns="1e2b08fb-a754-484b-8a80-f876b066c746" xsi:nil="true"/>
    <TaxCatchAll xmlns="04997f55-c607-4223-8358-1c3b2ee4a9db" xsi:nil="true"/>
  </documentManagement>
</p:properties>
</file>

<file path=customXml/itemProps1.xml><?xml version="1.0" encoding="utf-8"?>
<ds:datastoreItem xmlns:ds="http://schemas.openxmlformats.org/officeDocument/2006/customXml" ds:itemID="{C46C6C0F-D100-4A22-87B6-80C4026CA2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17C9A4-E00D-4A05-A229-43ACE257C11F}">
  <ds:schemaRefs>
    <ds:schemaRef ds:uri="04997f55-c607-4223-8358-1c3b2ee4a9db"/>
    <ds:schemaRef ds:uri="1e2b08fb-a754-484b-8a80-f876b066c74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F7BABEB-1BCD-413A-B5E0-2A19E0913E2F}">
  <ds:schemaRefs>
    <ds:schemaRef ds:uri="04997f55-c607-4223-8358-1c3b2ee4a9db"/>
    <ds:schemaRef ds:uri="1e2b08fb-a754-484b-8a80-f876b066c74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Grand écran</PresentationFormat>
  <Slides>7</Slides>
  <Notes>6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Dashboard One Page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InVivo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BOULAY Maud</dc:creator>
  <cp:revision>80</cp:revision>
  <dcterms:created xsi:type="dcterms:W3CDTF">2025-12-22T09:44:50Z</dcterms:created>
  <dcterms:modified xsi:type="dcterms:W3CDTF">2026-05-20T12:49:16Z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0x01010069325D38F23CDB45B2B04E0C1A16DB60</vt:lpwstr>
  </property>
  <property fmtid="{D5CDD505-2E9C-101B-9397-08002B2CF9AE}" pid="3" name="MediaServiceImageTags">
    <vt:lpwstr/>
  </property>
</Properties>
</file>